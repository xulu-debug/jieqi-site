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【0:00–0:18｜开场】</a:t>
            </a:r>
          </a:p>
          <a:p>
            <a:r>
              <a:t>各位老师好，我是南京信息工程大学逐光下乡实践团的陆旭。</a:t>
            </a:r>
          </a:p>
          <a:p>
            <a:r>
              <a:t>我们的项目叫「循节气文脉，探天文农智」，今年 8 月在南京市双塘街道玉带园社区做了一周的二十四节气美育实践。</a:t>
            </a:r>
          </a:p>
          <a:p>
            <a:r>
              <a:t>五分钟里我讲三件事：我们怎么做的、我们发现了什么，以及我们能留下什么。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【0:18–0:50｜概览】</a:t>
            </a:r>
          </a:p>
          <a:p>
            <a:r>
              <a:t>先说结论。七天里我们做了三件事：去紫金山天文台溯源，去社区分层访谈 25 位居民，再把这些变成给暑托班孩子的一堂课。</a:t>
            </a:r>
          </a:p>
          <a:p>
            <a:r>
              <a:t>这堂课到场 20 人，超过预设的 15 人；访谈收集到 10 份有效音视频，约 40 分钟。</a:t>
            </a:r>
          </a:p>
          <a:p>
            <a:r>
              <a:t>最后我们把整个过程沉淀成三件东西：一个节气科普网站、一套可复现的资源包、一条能迁移的实践模式。这也是我今天汇报的重点。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【0:50–1:20｜问题】</a:t>
            </a:r>
          </a:p>
          <a:p>
            <a:r>
              <a:t>为什么还要再做一次？因为政策层面早就点名了二十四节气，缺的是“对得上人的讲法”。</a:t>
            </a:r>
          </a:p>
          <a:p>
            <a:r>
              <a:t>我们把 25 位访谈对象按年龄切开，看到的是三重断层：</a:t>
            </a:r>
          </a:p>
          <a:p>
            <a:r>
              <a:t>长者记得住啃秋、晒秋、公秋母秋，但说不出科学原理，也没有表达平台；</a:t>
            </a:r>
          </a:p>
          <a:p>
            <a:r>
              <a:t>中青年只剩几个代表节气，知识来自短视频切片；</a:t>
            </a:r>
          </a:p>
          <a:p>
            <a:r>
              <a:t>孩子会背节气歌，但没摸过物候。</a:t>
            </a:r>
          </a:p>
          <a:p>
            <a:r>
              <a:t>所以我们的定位不是“再讲一遍节气歌”，而是给每一代人补上他缺的那一块。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【1:20–2:00｜路径与成效】</a:t>
            </a:r>
          </a:p>
          <a:p>
            <a:r>
              <a:t>我们的做法是三位一体，而且三个环节互相供给。</a:t>
            </a:r>
          </a:p>
          <a:p>
            <a:r>
              <a:t>第一站紫金山天文台，弄清节气的天文底子——圭表怎么测出两至两分，历代怎么改历；顺带在玄武湖做立秋物候实测，验证了“节气不等于气象入秋”。</a:t>
            </a:r>
          </a:p>
          <a:p>
            <a:r>
              <a:t>第二站社区，分层访谈 25 位居民，收集啃秋、盐水鸭凉补、公秋母秋这些只有本地人才说得出的口述，留存 10 份音视频约 40 分钟。</a:t>
            </a:r>
          </a:p>
          <a:p>
            <a:r>
              <a:t>第三站课堂，把这些变成暑托班孩子听得懂的一堂课，到场 20 人。</a:t>
            </a:r>
          </a:p>
          <a:p>
            <a:r>
              <a:t>效果直接用数据说话：同一批 20 名学员，宣讲前只有 1 人能完整说出立秋由来和三候，宣讲后是 17 人，掌握率 85%；85% 愿意主动践行民俗，86% 愿意讲给家里人，80% 表示会持续关注物候。</a:t>
            </a:r>
          </a:p>
          <a:p>
            <a:r>
              <a:t>一位队员在研学总结里写：“以前只当它是古诗与口诀，如今才读懂它是贴合物候、适配农事的科学时序。”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【2:00–2:20｜亮点】</a:t>
            </a:r>
          </a:p>
          <a:p>
            <a:r>
              <a:t>第二部分讲亮点。除了“把活动办成”，我们额外做了三件事：</a:t>
            </a:r>
          </a:p>
          <a:p>
            <a:r>
              <a:t>一是节气科普网站，把活动搬上网，8 个板块、32 张实拍、2 段现场视频；</a:t>
            </a:r>
          </a:p>
          <a:p>
            <a:r>
              <a:t>二是可复现的资源包，10 页 9 类模板；</a:t>
            </a:r>
          </a:p>
          <a:p>
            <a:r>
              <a:t>三是这套不依赖经费、不依赖特定场馆的三位一体模式，换学校、换节气、换社区都能重跑。</a:t>
            </a:r>
          </a:p>
          <a:p>
            <a:r>
              <a:t>下面重点讲第一个——网站。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【2:20–2:50｜网站 为什么】</a:t>
            </a:r>
          </a:p>
          <a:p>
            <a:r>
              <a:t>这是我们重点想讲的东西。</a:t>
            </a:r>
          </a:p>
          <a:p>
            <a:r>
              <a:t>宣讲结束那天我们就发现一个问题：照片躺在微信群里，报告锁在硬盘里，外地团队根本看不到——这些只能算“记录”，不算“成果”。</a:t>
            </a:r>
          </a:p>
          <a:p>
            <a:r>
              <a:t>所以我们做了一个网站，把它放在 GitHub Pages 上：活动只有一天，网站 24 小时在线；照片沉在群里，现在一个固定链接扫码就能看；别的团队看不到，现在全网都能访问。</a:t>
            </a:r>
          </a:p>
          <a:p>
            <a:r>
              <a:t>它是纯静态实现的，无服务器、无框架、零外部依赖，维护成本几乎为零。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【2:50–3:30｜网站 内容与开源】</a:t>
            </a:r>
          </a:p>
          <a:p>
            <a:r>
              <a:t>网站不是把照片堆成一页，而是按认知顺序排成八个板块：从“节气到底是什么”讲起，然后回答“从何而来”，再往下是气象物候、四时民俗、“与今天”的关系，最后落到“在地实证”和“你能带走什么”。</a:t>
            </a:r>
          </a:p>
          <a:p>
            <a:r>
              <a:t>电脑和手机都能正常打开，网址就是屏幕上这个，您现在扫一下或点一下就能看到。</a:t>
            </a:r>
          </a:p>
          <a:p>
            <a:r>
              <a:t>更重要的一点：网站已经以 MIT 协议开源，仓库就在 GitHub 上。所以下一届同学、或者别的学校想做同样的事，不用从零开始——直接在我们的基础上换照片、改文字、加板块，甚至可以再发布自己的版本。这是我们对“可复制”的理解：不是给你一份说明书，而是给你一个能接着改的成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【3:30–3:55｜资源包】</a:t>
            </a:r>
          </a:p>
          <a:p>
            <a:r>
              <a:t>第二个亮点是资源包。网站解决“看得见”，资源包解决“抄得走”。</a:t>
            </a:r>
          </a:p>
          <a:p>
            <a:r>
              <a:t>我们把这七天拆成可以填写的表格：分层访谈提纲分成儿童、中青年、老年三套问法；研学梳理文档是天文馆和气象台通用的记录表；还有宣讲脚本、问卷模板、应急预案、影像必拍镜头清单；再往外扩展了文创物料设计、报名表和对接函、以及对照通知的成果提交规范。</a:t>
            </a:r>
          </a:p>
          <a:p>
            <a:r>
              <a:t>一共 10 页 PDF，九类模板全部可直接填写。不需要高额经费，只需要一个愿意跑的团队。同一套模板换到春分、夏至、秋分、冬至都能用。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【3:55–4:10｜传播】</a:t>
            </a:r>
          </a:p>
          <a:p>
            <a:r>
              <a:t>成果还通过三条线走出社区：学院信息栏发了一篇新闻稿；B 站和抖音的纪实 Vlog 累计播放 1500 多次；网站长期在线。</a:t>
            </a:r>
          </a:p>
          <a:p>
            <a:r>
              <a:t>最好的一句反馈来自一位阿姨——“原来还有公秋母秋，我们家每年啃秋，但从来没想过为什么。”这也正是我们做这套东西的意义。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【4:10–4:30｜反思】</a:t>
            </a:r>
          </a:p>
          <a:p>
            <a:r>
              <a:t>也说问题。第一，覆盖面窄，只覆盖了一个社区的暑托班；第二，在地性不足，初期我们确实把通用民俗套用到了南京；第三，缺长效机制，活动结束就散场。</a:t>
            </a:r>
          </a:p>
          <a:p>
            <a:r>
              <a:t>对应的三条下一步：构建高校—社区—居民三位一体，把课纳入社区常态化托管；建立南京在地民俗库；以及资源包 2.0。</a:t>
            </a:r>
          </a:p>
          <a:p>
            <a:r>
              <a:t>网站的下一版也列上日程：居民可以在线补一条本地民俗、做地区差异对照、把课堂脚本做成可自学的图文课、持续收录口述素材。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【4:30–4:45｜收尾】</a:t>
            </a:r>
          </a:p>
          <a:p>
            <a:r>
              <a:t>最后一句：我们不只想证明“这件事我们做完了”，更想留下“这件事别人能接着做”。</a:t>
            </a:r>
          </a:p>
          <a:p>
            <a:r>
              <a:t>网站的二维码和链接都在屏幕上，资源包和流程也全部公开，欢迎各位老师扫码看看，也欢迎其他团队拿去改一改就用。</a:t>
            </a:r>
          </a:p>
          <a:p>
            <a:r>
              <a:t>汇报完毕，谢谢各位老师！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xulu-debug.github.io/jieqi-site/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xulu-debug.github.io/jieqi-site/" TargetMode="External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hyperlink" Target="https://xulu-debug.github.io/jieqi-site/" TargetMode="Externa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g.png"/>
          <p:cNvPicPr>
            <a:picLocks noChangeAspect="1"/>
          </p:cNvPicPr>
          <p:nvPr/>
        </p:nvPicPr>
        <p:blipFill>
          <a:blip r:embed="rId2"/>
          <a:srcRect t="7817" b="7817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B2E28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1044000"/>
            <a:ext cx="100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8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南京信息工程大学 · 生态与应用气象学院 · 逐光下乡实践团</a:t>
            </a:r>
          </a:p>
        </p:txBody>
      </p:sp>
      <p:sp>
        <p:nvSpPr>
          <p:cNvPr id="5" name="Rectangle 4"/>
          <p:cNvSpPr/>
          <p:nvPr/>
        </p:nvSpPr>
        <p:spPr>
          <a:xfrm>
            <a:off x="972000" y="1422000"/>
            <a:ext cx="2015999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4000" y="1602000"/>
            <a:ext cx="10440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 spc="15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循节气文脉，探天文农智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2000" y="2646000"/>
            <a:ext cx="1008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二十四节气社区美育实践　｜　五分钟答辩汇报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000" y="3294000"/>
            <a:ext cx="9360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CF1ED"/>
                </a:solidFill>
                <a:latin typeface="微软雅黑"/>
                <a:ea typeface="微软雅黑"/>
                <a:cs typeface="微软雅黑"/>
              </a:rPr>
              <a:t>把一次七天的实践，做成一套能带走、能复现、能继续用的成果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972000" y="5238000"/>
            <a:ext cx="4320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2000" y="5418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汇报人：陆　旭　｜　指导教师：江晓东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0" y="5742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6D5CB"/>
                </a:solidFill>
                <a:latin typeface="微软雅黑"/>
                <a:ea typeface="微软雅黑"/>
                <a:cs typeface="微软雅黑"/>
              </a:rPr>
              <a:t>2026 年 9 月　·　南京市双塘街道玉带园社区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00" y="5760000"/>
            <a:ext cx="486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C6D5CB"/>
                </a:solidFill>
                <a:latin typeface="Arial"/>
                <a:ea typeface="Arial"/>
                <a:cs typeface="Arial"/>
              </a:rPr>
              <a:t>成果网站 ↗　xulu-debug.github.io/jieqi-site</a:t>
            </a:r>
          </a:p>
        </p:txBody>
      </p:sp>
      <p:sp>
        <p:nvSpPr>
          <p:cNvPr id="13" name="Rectangle 12">
            <a:hlinkClick r:id="rId3"/>
          </p:cNvPr>
          <p:cNvSpPr/>
          <p:nvPr/>
        </p:nvSpPr>
        <p:spPr>
          <a:xfrm>
            <a:off x="6696000" y="5706000"/>
            <a:ext cx="4860000" cy="39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01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一句话概览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五分钟，讲清三件事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10620000" cy="41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7 天、5 名队员、1 个社区：走完「场馆研学—社区走访—公益宣讲」三步，然后把过程沉淀成三件能被别人直接拿走的东西。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" y="1980000"/>
            <a:ext cx="2358000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4000" y="2203200"/>
            <a:ext cx="1818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4A3C"/>
                </a:solidFill>
                <a:latin typeface="Arial"/>
                <a:ea typeface="Arial"/>
                <a:cs typeface="Arial"/>
              </a:rPr>
              <a:t>7</a:t>
            </a:r>
            <a:r>
              <a:rPr sz="1300" b="0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 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799" y="2898000"/>
            <a:ext cx="1800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实践周期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799" y="3168000"/>
            <a:ext cx="18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8.7—8.13，任务完成率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6000" y="1980000"/>
            <a:ext cx="2358000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000" y="2203200"/>
            <a:ext cx="1818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4A3C"/>
                </a:solidFill>
                <a:latin typeface="Arial"/>
                <a:ea typeface="Arial"/>
                <a:cs typeface="Arial"/>
              </a:rPr>
              <a:t>25</a:t>
            </a:r>
            <a:r>
              <a:rPr sz="1300" b="0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 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6799" y="2898000"/>
            <a:ext cx="1800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社区分层访谈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6799" y="3168000"/>
            <a:ext cx="18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老年 15 · 中青年 6 · 儿童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88000" y="1980000"/>
            <a:ext cx="2358000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58000" y="2203200"/>
            <a:ext cx="1818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4A3C"/>
                </a:solidFill>
                <a:latin typeface="Arial"/>
                <a:ea typeface="Arial"/>
                <a:cs typeface="Arial"/>
              </a:rPr>
              <a:t>20</a:t>
            </a:r>
            <a:r>
              <a:rPr sz="1300" b="0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 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8800" y="2898000"/>
            <a:ext cx="1800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美育课堂到场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8800" y="3168000"/>
            <a:ext cx="18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预设 15 人，超额 33%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0000" y="1980000"/>
            <a:ext cx="2358000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0000" y="2203200"/>
            <a:ext cx="1818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4A3C"/>
                </a:solidFill>
                <a:latin typeface="Arial"/>
                <a:ea typeface="Arial"/>
                <a:cs typeface="Arial"/>
              </a:rPr>
              <a:t>1500</a:t>
            </a:r>
            <a:r>
              <a:rPr sz="1300" b="0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 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0800" y="2898000"/>
            <a:ext cx="1800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短视频播放量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0800" y="3168000"/>
            <a:ext cx="18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B 站 · 抖音双平台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" y="3834000"/>
            <a:ext cx="104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三步走的实践链条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000" y="4121999"/>
            <a:ext cx="3366000" cy="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999" y="4284000"/>
            <a:ext cx="288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4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场馆研学 · 溯源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紫金山天文台二十四节气特展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4147200" y="4428000"/>
            <a:ext cx="270000" cy="216000"/>
          </a:xfrm>
          <a:prstGeom prst="triangle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82000" y="4121999"/>
            <a:ext cx="3366000" cy="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4000" y="4284000"/>
            <a:ext cx="288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4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社区走访 · 问俗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玉带园社区分层随机访谈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7945200" y="4428000"/>
            <a:ext cx="270000" cy="216000"/>
          </a:xfrm>
          <a:prstGeom prst="triangle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80000" y="4121999"/>
            <a:ext cx="3366000" cy="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2000" y="4284000"/>
            <a:ext cx="2880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4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公益宣讲 · 传薪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暑托班节气美育课堂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000" y="5238000"/>
            <a:ext cx="104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三件能被带走的东西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" y="5526000"/>
            <a:ext cx="3366000" cy="66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4000" y="5526000"/>
            <a:ext cx="3366000" cy="198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000" y="5634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节气科普网站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000" y="5922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在线成果展馆，扫码可看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2000" y="5526000"/>
            <a:ext cx="3366000" cy="66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2000" y="5526000"/>
            <a:ext cx="3366000" cy="198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2000" y="5634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可复现资源包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2000" y="5922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10 页 PDF，9 类模板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80000" y="5526000"/>
            <a:ext cx="3366000" cy="66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80000" y="5526000"/>
            <a:ext cx="3366000" cy="198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0000" y="5634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可复制实践模式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0000" y="5922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可迁移到春分 / 秋分 / 冬至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02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为什么做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为什么还要再做一次节气科普？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633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政策早就点名了二十四节气。真正的难点是：同一条节气，四代人听到的是四本不同的书。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" y="2070000"/>
            <a:ext cx="6336000" cy="99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4000" y="2070000"/>
            <a:ext cx="57600" cy="990000"/>
          </a:xfrm>
          <a:prstGeom prst="rect">
            <a:avLst/>
          </a:prstGeom>
          <a:solidFill>
            <a:srgbClr val="1E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7999" y="2250000"/>
            <a:ext cx="16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长者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1E4A3C"/>
                </a:solidFill>
                <a:latin typeface="Arial"/>
                <a:ea typeface="Arial"/>
                <a:cs typeface="Arial"/>
              </a:rPr>
              <a:t>15 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000" y="2257200"/>
            <a:ext cx="4176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记得住啃秋、晒秋、公秋母秋，
但说不出科学原理，也缺表达平台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168000"/>
            <a:ext cx="6336000" cy="99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168000"/>
            <a:ext cx="57600" cy="9900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999" y="3348000"/>
            <a:ext cx="16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中青年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3E7A6B"/>
                </a:solidFill>
                <a:latin typeface="Arial"/>
                <a:ea typeface="Arial"/>
                <a:cs typeface="Arial"/>
              </a:rPr>
              <a:t>6 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000" y="3355200"/>
            <a:ext cx="4176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只剩几个代表节气，知识来自
碎片化短视频，缺完整框架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266000"/>
            <a:ext cx="6336000" cy="99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4000" y="4266000"/>
            <a:ext cx="57600" cy="990000"/>
          </a:xfrm>
          <a:prstGeom prst="rect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999" y="4446000"/>
            <a:ext cx="16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青少年 / 儿童</a:t>
            </a:r>
          </a:p>
          <a:p>
            <a:pPr algn="l">
              <a:lnSpc>
                <a:spcPct val="128000"/>
              </a:lnSpc>
              <a:spcBef>
                <a:spcPts val="200"/>
              </a:spcBef>
              <a:spcAft>
                <a:spcPts val="0"/>
              </a:spcAft>
            </a:pPr>
            <a:r>
              <a:rPr sz="1200" b="1" i="0">
                <a:solidFill>
                  <a:srgbClr val="8FB3A6"/>
                </a:solidFill>
                <a:latin typeface="Arial"/>
                <a:ea typeface="Arial"/>
                <a:cs typeface="Arial"/>
              </a:rPr>
              <a:t>10 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8000" y="4453200"/>
            <a:ext cx="4176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会背节气歌，停在文字记忆，
没摸过物候、没体验过民俗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000" y="5526000"/>
            <a:ext cx="6408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→ 不是缺故事，是缺一套能同时对上四代人的讲法。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6000" y="2070000"/>
            <a:ext cx="4104000" cy="32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8000" y="2214000"/>
            <a:ext cx="36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4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我们的访谈样本分布</a:t>
            </a:r>
          </a:p>
        </p:txBody>
      </p:sp>
      <p:pic>
        <p:nvPicPr>
          <p:cNvPr id="21" name="Picture 20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317" y="2502000"/>
            <a:ext cx="3525365" cy="262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68000" y="5166000"/>
            <a:ext cx="363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共 25 位居民，分层随机抽样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03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怎么做 · 成效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三位一体：研学、走访、宣讲，最后都落在数据上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1065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区别于“参观完写篇感想”或“进社区讲一堂课”：研学结论改课件，走访素材改话术，宣讲反馈再回流。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" y="1745999"/>
            <a:ext cx="3366000" cy="19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4000" y="1745999"/>
            <a:ext cx="3366000" cy="50400"/>
          </a:xfrm>
          <a:prstGeom prst="rect">
            <a:avLst/>
          </a:prstGeom>
          <a:solidFill>
            <a:srgbClr val="1E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4000" y="1872000"/>
            <a:ext cx="288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①　</a:t>
            </a:r>
            <a:r>
              <a:rPr sz="15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场馆研学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溯源“为什么”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799" y="2574000"/>
            <a:ext cx="2844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4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紫金山天文台节气特展：圭表、浑仪与历代改历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799" y="3114000"/>
            <a:ext cx="2844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4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玄武湖立秋物候实测，验证“节气≠气象入秋”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4147200" y="2646000"/>
            <a:ext cx="270000" cy="216000"/>
          </a:xfrm>
          <a:prstGeom prst="triangle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2000" y="1745999"/>
            <a:ext cx="3366000" cy="19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2000" y="1745999"/>
            <a:ext cx="3366000" cy="504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2000" y="1872000"/>
            <a:ext cx="288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②　</a:t>
            </a:r>
            <a:r>
              <a:rPr sz="15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社区走访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 i="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采集“本地怎么说”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800" y="2574000"/>
            <a:ext cx="2844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4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分层访谈 25 位居民（长者 15 / 中青年 6 / 儿童 4）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800" y="3114000"/>
            <a:ext cx="2844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4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留存 10 份音视频约 40 分钟，啃秋、公秋母秋口述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7945200" y="2646000"/>
            <a:ext cx="270000" cy="216000"/>
          </a:xfrm>
          <a:prstGeom prst="triangle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80000" y="1745999"/>
            <a:ext cx="3366000" cy="19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80000" y="1745999"/>
            <a:ext cx="3366000" cy="504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0000" y="1872000"/>
            <a:ext cx="288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③　</a:t>
            </a:r>
            <a:r>
              <a:rPr sz="15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公益宣讲</a:t>
            </a:r>
          </a:p>
          <a:p>
            <a:pPr algn="l">
              <a:lnSpc>
                <a:spcPct val="128000"/>
              </a:lnSpc>
              <a:spcBef>
                <a:spcPts val="10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讲成“他们的话”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0800" y="2574000"/>
            <a:ext cx="2844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4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暑托班 + 文明实践站开课，到场 20 人（预设 15）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0800" y="3114000"/>
            <a:ext cx="2844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04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树叶剪贴、节气歌、趣味问答，前后测同一批 20 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4000" y="3851999"/>
            <a:ext cx="10825200" cy="882000"/>
          </a:xfrm>
          <a:prstGeom prst="roundRect">
            <a:avLst>
              <a:gd name="adj" fmla="val 45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999" y="3978000"/>
            <a:ext cx="2376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E4A3C"/>
                </a:solidFill>
                <a:latin typeface="Arial"/>
                <a:ea typeface="Arial"/>
                <a:cs typeface="Arial"/>
              </a:rPr>
              <a:t>1 → 17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999" y="4302000"/>
            <a:ext cx="237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掌握率 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0" y="3978000"/>
            <a:ext cx="2376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E7A6B"/>
                </a:solidFill>
                <a:latin typeface="Arial"/>
                <a:ea typeface="Arial"/>
                <a:cs typeface="Arial"/>
              </a:rPr>
              <a:t>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0" y="4302000"/>
            <a:ext cx="237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愿主动践行民俗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1999" y="3978000"/>
            <a:ext cx="10800" cy="594000"/>
          </a:xfrm>
          <a:prstGeom prst="rect">
            <a:avLst/>
          </a:prstGeom>
          <a:solidFill>
            <a:srgbClr val="D5C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2000" y="3978000"/>
            <a:ext cx="2376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86%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2000" y="4302000"/>
            <a:ext cx="237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愿讲给家人听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3999" y="3978000"/>
            <a:ext cx="10800" cy="594000"/>
          </a:xfrm>
          <a:prstGeom prst="rect">
            <a:avLst/>
          </a:prstGeom>
          <a:solidFill>
            <a:srgbClr val="D5C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4000" y="3978000"/>
            <a:ext cx="2376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A63A2B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4000" y="4302000"/>
            <a:ext cx="237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愿持续关注物候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66000" y="3978000"/>
            <a:ext cx="10800" cy="594000"/>
          </a:xfrm>
          <a:prstGeom prst="rect">
            <a:avLst/>
          </a:prstGeom>
          <a:solidFill>
            <a:srgbClr val="D5C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4000" y="4806000"/>
            <a:ext cx="1076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认知题与意愿题均在同一批 20 名学员、宣讲前后各测一次；85% / 86% / 80% 为宣讲后的行为意愿。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000" y="5130000"/>
            <a:ext cx="1076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「以前只当它是古诗与口诀，如今才读懂它是贴合物候、适配农事的科学时序。」——队员研学总结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000" y="5652000"/>
            <a:ext cx="10764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关键不是三个环节各自完成，而是每一步的产出，都是下一步的输入。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04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三个亮点，一条主线：从“我们做了”，到“别人能做”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1065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活动会结束，成果不该结束。所以除了“办成一场活动”，我们额外做了三件能长期存在、能对外使用的东西。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" y="1908000"/>
            <a:ext cx="3366000" cy="4104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desk_hero.png"/>
          <p:cNvPicPr>
            <a:picLocks noChangeAspect="1"/>
          </p:cNvPicPr>
          <p:nvPr/>
        </p:nvPicPr>
        <p:blipFill>
          <a:blip r:embed="rId2"/>
          <a:srcRect t="6886" b="6886"/>
          <a:stretch>
            <a:fillRect/>
          </a:stretch>
        </p:blipFill>
        <p:spPr>
          <a:xfrm>
            <a:off x="864000" y="2088000"/>
            <a:ext cx="3006000" cy="16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4000" y="2088000"/>
            <a:ext cx="3006000" cy="360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7200" y="3870000"/>
            <a:ext cx="291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亮点一 · 节气科普网站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200" y="4212000"/>
            <a:ext cx="293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把活动搬上网：8 个板块、32 张实拍图、2 段现场视频，手机和电脑都能打开，扫码即可访问。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200" y="5490000"/>
            <a:ext cx="291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扫码即看 · 源码 MIT 开源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2000" y="1908000"/>
            <a:ext cx="3366000" cy="4104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740" y="2088000"/>
            <a:ext cx="1144519" cy="1620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62000" y="2088000"/>
            <a:ext cx="3006000" cy="360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5200" y="3870000"/>
            <a:ext cx="291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亮点二 · 可复现资源包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5200" y="4212000"/>
            <a:ext cx="293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10 页 PDF，9 类标准化模板：访谈提纲、研学梳理、应急预案、影像脚本、文创设计、文书模板。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5200" y="5490000"/>
            <a:ext cx="291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改一改就能用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0000" y="1908000"/>
            <a:ext cx="3366000" cy="4104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9" name="Picture 18" descr="team-shutuoban.jpg"/>
          <p:cNvPicPr>
            <a:picLocks noChangeAspect="1"/>
          </p:cNvPicPr>
          <p:nvPr/>
        </p:nvPicPr>
        <p:blipFill>
          <a:blip r:embed="rId4"/>
          <a:srcRect t="14077" b="14077"/>
          <a:stretch>
            <a:fillRect/>
          </a:stretch>
        </p:blipFill>
        <p:spPr>
          <a:xfrm>
            <a:off x="8460000" y="2088000"/>
            <a:ext cx="3006000" cy="1620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460000" y="2088000"/>
            <a:ext cx="3006000" cy="36000"/>
          </a:xfrm>
          <a:prstGeom prst="rect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200" y="3870000"/>
            <a:ext cx="2916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亮点三 · 三位一体模式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200" y="4212000"/>
            <a:ext cx="2934000" cy="12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不依赖经费与特定场馆：换一所高校、换一个节气、换一个社区，照着流程就能重跑一遍。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200" y="5490000"/>
            <a:ext cx="291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可迁移到春分 / 秋分 / 冬至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000" y="6102000"/>
            <a:ext cx="1065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下面重点讲第一个：为什么我们要做一个网站，以及这个网站到底做了什么。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05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亮点一 · 网站（为什么）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让一天的活动，变成全年可打开的展馆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1065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做完宣讲我们意识到一个问题：照片躺在群里，报告锁在硬盘里，外地团队根本看不到。这些都不算“成果”，最多算“记录”。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" y="1980000"/>
            <a:ext cx="6623999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6000" y="2275200"/>
            <a:ext cx="223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活动只有一天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3186000" y="2293200"/>
            <a:ext cx="306000" cy="251999"/>
          </a:xfrm>
          <a:prstGeom prst="triangle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4000" y="2260800"/>
            <a:ext cx="34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网站 24 小时在线，随时可以打开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006000"/>
            <a:ext cx="6623999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3301200"/>
            <a:ext cx="223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照片沉在聊天群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3186000" y="3319199"/>
            <a:ext cx="306000" cy="251999"/>
          </a:xfrm>
          <a:prstGeom prst="triangle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4000" y="3286799"/>
            <a:ext cx="34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一个固定链接，扫码就能看，不占手机空间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4031999"/>
            <a:ext cx="6623999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327200"/>
            <a:ext cx="223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别的团队学不到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3186000" y="4345199"/>
            <a:ext cx="306000" cy="251999"/>
          </a:xfrm>
          <a:prstGeom prst="triangle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4000" y="4312799"/>
            <a:ext cx="34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全网可访问，流程、模板、素材全部公开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60000" y="1980000"/>
            <a:ext cx="3960000" cy="2664000"/>
          </a:xfrm>
          <a:prstGeom prst="roundRect">
            <a:avLst>
              <a:gd name="adj" fmla="val 4500"/>
            </a:avLst>
          </a:prstGeom>
          <a:solidFill>
            <a:srgbClr val="1E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3999" y="2250000"/>
            <a:ext cx="3348000" cy="21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9E4DD"/>
                </a:solidFill>
                <a:latin typeface="微软雅黑"/>
                <a:ea typeface="微软雅黑"/>
                <a:cs typeface="微软雅黑"/>
              </a:rPr>
              <a:t>我们想要的不是一份
</a:t>
            </a:r>
            <a:r>
              <a:rPr sz="15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“做完了”</a:t>
            </a:r>
            <a:r>
              <a:rPr sz="1500" b="0" i="0">
                <a:solidFill>
                  <a:srgbClr val="D9E4DD"/>
                </a:solidFill>
                <a:latin typeface="微软雅黑"/>
                <a:ea typeface="微软雅黑"/>
                <a:cs typeface="微软雅黑"/>
              </a:rPr>
              <a:t>的证明，
而是别人</a:t>
            </a:r>
            <a:r>
              <a:rPr sz="15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“能接着做”</a:t>
            </a:r>
            <a:r>
              <a:rPr sz="1500" b="0" i="0">
                <a:solidFill>
                  <a:srgbClr val="D9E4DD"/>
                </a:solidFill>
                <a:latin typeface="微软雅黑"/>
                <a:ea typeface="微软雅黑"/>
                <a:cs typeface="微软雅黑"/>
              </a:rPr>
              <a:t>的起点。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3999" y="3798000"/>
            <a:ext cx="2160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3999" y="3960000"/>
            <a:ext cx="334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纯静态实现，无服务器、无框架、零外部依赖，一年只花 0 元维护费。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" y="52380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5 个人分工完成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" y="5490000"/>
            <a:ext cx="1584000" cy="6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4000" y="5490000"/>
            <a:ext cx="1548000" cy="19800"/>
          </a:xfrm>
          <a:prstGeom prst="rect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000" y="5598000"/>
            <a:ext cx="1565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陆旭 · 内容结构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000" y="5832000"/>
            <a:ext cx="1565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8 个板块的叙事线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58000" y="5490000"/>
            <a:ext cx="1584000" cy="6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58000" y="5490000"/>
            <a:ext cx="1548000" cy="19800"/>
          </a:xfrm>
          <a:prstGeom prst="rect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8000" y="5598000"/>
            <a:ext cx="1565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钟孝宇 · 素材整理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8000" y="5832000"/>
            <a:ext cx="1565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32 图 2 视频归档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32000" y="5490000"/>
            <a:ext cx="1584000" cy="6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32000" y="5490000"/>
            <a:ext cx="1548000" cy="19800"/>
          </a:xfrm>
          <a:prstGeom prst="rect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000" y="5598000"/>
            <a:ext cx="1565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张尔凡 · 影像拍摄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32000" y="5832000"/>
            <a:ext cx="1565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研学与课堂纪实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06000" y="5490000"/>
            <a:ext cx="1584000" cy="63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06000" y="5490000"/>
            <a:ext cx="1548000" cy="19800"/>
          </a:xfrm>
          <a:prstGeom prst="rect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06000" y="5598000"/>
            <a:ext cx="15659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孟夏杰 · 剪辑上传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6000" y="5832000"/>
            <a:ext cx="1565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双平台发布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06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亮点一 · 网站（内容）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八个板块讲清一条线，一条链接交给下一个人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1065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不是把照片堆成一页，而是按认知顺序排；网址直接印在这页上，评委现在就可以点开看。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" y="1908000"/>
            <a:ext cx="2520000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6000" y="2059200"/>
            <a:ext cx="3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" y="2044800"/>
            <a:ext cx="1872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首屏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6000" y="2347200"/>
            <a:ext cx="22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给时间刻下的二十四道刻度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0000" y="1908000"/>
            <a:ext cx="2520000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1999" y="2059200"/>
            <a:ext cx="3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0000" y="2044800"/>
            <a:ext cx="1872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是什么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1999" y="2347200"/>
            <a:ext cx="22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不是节日，是中国人按太阳排出的时间制度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" y="2951999"/>
            <a:ext cx="2520000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000" y="3103199"/>
            <a:ext cx="3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4000" y="3088800"/>
            <a:ext cx="1872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从何而来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000" y="3391200"/>
            <a:ext cx="22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一根立竿 → 黄道 24 个刻度；天文台研学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0000" y="2951999"/>
            <a:ext cx="2520000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91999" y="3103199"/>
            <a:ext cx="3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0000" y="3088800"/>
            <a:ext cx="1872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气象物候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1999" y="3391200"/>
            <a:ext cx="22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节气是古人写的“气象预报”与江南农谚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000" y="3996000"/>
            <a:ext cx="2520000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000" y="4147200"/>
            <a:ext cx="3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4000" y="4132800"/>
            <a:ext cx="1872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四时民俗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000" y="4435200"/>
            <a:ext cx="22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春咬鲜 / 夏尝够 / 秋贴膘 / 冬过年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0000" y="3996000"/>
            <a:ext cx="2520000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1999" y="4147200"/>
            <a:ext cx="3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0000" y="4132800"/>
            <a:ext cx="1872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与今天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1999" y="4435200"/>
            <a:ext cx="22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农业气象服务、设施农业、暑托班课堂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4000" y="5040000"/>
            <a:ext cx="2520000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6000" y="5191200"/>
            <a:ext cx="3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4000" y="5176800"/>
            <a:ext cx="1872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在地实证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000" y="5479200"/>
            <a:ext cx="22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25 位居民的认知落差与四条提升方向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0000" y="5040000"/>
            <a:ext cx="2520000" cy="91799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91999" y="5191200"/>
            <a:ext cx="396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70000" y="5176800"/>
            <a:ext cx="1872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带走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91999" y="5479200"/>
            <a:ext cx="223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走访调研 / 少儿课堂 / 天文研学 / 现成模板</a:t>
            </a:r>
          </a:p>
        </p:txBody>
      </p:sp>
      <p:pic>
        <p:nvPicPr>
          <p:cNvPr id="38" name="Picture 37" descr="desk_hero.png">
            <a:hlinkClick r:id="rId3"/>
          </p:cNvPr>
          <p:cNvPicPr>
            <a:picLocks noChangeAspect="1"/>
          </p:cNvPicPr>
          <p:nvPr/>
        </p:nvPicPr>
        <p:blipFill>
          <a:blip r:embed="rId2"/>
          <a:srcRect t="5888" b="5888"/>
          <a:stretch>
            <a:fillRect/>
          </a:stretch>
        </p:blipFill>
        <p:spPr>
          <a:xfrm>
            <a:off x="6192000" y="1908000"/>
            <a:ext cx="3851999" cy="21240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6192000" y="1908000"/>
            <a:ext cx="3851999" cy="2124000"/>
          </a:xfrm>
          <a:prstGeom prst="rect">
            <a:avLst/>
          </a:prstGeom>
          <a:noFill/>
          <a:ln w="12700">
            <a:solidFill>
              <a:srgbClr val="D8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206000" y="1908000"/>
            <a:ext cx="1278000" cy="2124000"/>
          </a:xfrm>
          <a:prstGeom prst="roundRect">
            <a:avLst>
              <a:gd name="adj" fmla="val 7000"/>
            </a:avLst>
          </a:prstGeom>
          <a:solidFill>
            <a:srgbClr val="2A3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1" name="Picture 40" descr="mob_hero.png">
            <a:hlinkClick r:id="rId3"/>
          </p:cNvPr>
          <p:cNvPicPr>
            <a:picLocks noChangeAspect="1"/>
          </p:cNvPicPr>
          <p:nvPr/>
        </p:nvPicPr>
        <p:blipFill>
          <a:blip r:embed="rId4"/>
          <a:srcRect t="9659" b="9659"/>
          <a:stretch>
            <a:fillRect/>
          </a:stretch>
        </p:blipFill>
        <p:spPr>
          <a:xfrm>
            <a:off x="10278000" y="1980000"/>
            <a:ext cx="1134000" cy="19800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92000" y="4086000"/>
            <a:ext cx="532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桌面端首屏　｜　手机端同样正常打开（已做响应式适配）</a:t>
            </a:r>
          </a:p>
        </p:txBody>
      </p:sp>
      <p:sp>
        <p:nvSpPr>
          <p:cNvPr id="43" name="Rounded Rectangle 42">
            <a:hlinkClick r:id="rId3"/>
          </p:cNvPr>
          <p:cNvSpPr/>
          <p:nvPr/>
        </p:nvSpPr>
        <p:spPr>
          <a:xfrm>
            <a:off x="6192000" y="4338000"/>
            <a:ext cx="5310000" cy="576000"/>
          </a:xfrm>
          <a:prstGeom prst="roundRect">
            <a:avLst>
              <a:gd name="adj" fmla="val 14000"/>
            </a:avLst>
          </a:prstGeom>
          <a:solidFill>
            <a:srgbClr val="1E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直达网站 ↗　xulu-debug.github.io/jieqi-site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2000" y="5112000"/>
            <a:ext cx="1152000" cy="19800"/>
          </a:xfrm>
          <a:prstGeom prst="rect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92000" y="5202000"/>
            <a:ext cx="5328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5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MIT 协议开源，后来者可以直接改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2000" y="5454000"/>
            <a:ext cx="5346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网站源码以 MIT 协议开源（github.com/Xulu-Debug/jieqi-site）。下一届或别的团队不用从零开始——换照片、改文字、加板块，直接在我们的底子上接着做，也可以发布自己的版本。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07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亮点二 · 资源包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把“我们的做法”，写成“你们的模板”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1065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网站解决“看得见”，资源包解决“抄得走”。我们把全流程拆成可填写的表格，别的团队按自己的情况改一改就能用。</a:t>
            </a:r>
          </a:p>
        </p:txBody>
      </p:sp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61" y="1908000"/>
            <a:ext cx="2619677" cy="370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4000" y="5688000"/>
            <a:ext cx="266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《二十四节气科普实践资源包》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6000" y="1908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核心资源六项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6000" y="2214000"/>
            <a:ext cx="4464000" cy="511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80000" y="2365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000" y="2358000"/>
            <a:ext cx="3996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分层访谈提纲（儿童 / 中青年 / 老年三套问法）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6000" y="2772000"/>
            <a:ext cx="4464000" cy="511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0" y="2923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000" y="2916000"/>
            <a:ext cx="3996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研学梳理文档（天文馆、气象台通用记录表）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330000"/>
            <a:ext cx="4464000" cy="511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0000" y="3481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000" y="3474000"/>
            <a:ext cx="3996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宣讲课件脚本与预演检查清单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3888000"/>
            <a:ext cx="4464000" cy="511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0000" y="4039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000" y="4032000"/>
            <a:ext cx="3996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问卷模板与访谈记录归档格式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6000" y="4446000"/>
            <a:ext cx="4464000" cy="511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0000" y="4597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000" y="4590000"/>
            <a:ext cx="3996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应急预案（人身安全、高温雷雨、舆情）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6000" y="5004000"/>
            <a:ext cx="4464000" cy="511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0000" y="5155200"/>
            <a:ext cx="32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50000" y="5148000"/>
            <a:ext cx="3996000" cy="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影像摄制脚本与素材清单（必拍镜头表）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8000" y="1908000"/>
            <a:ext cx="32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扩展资源三项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8000" y="2214000"/>
            <a:ext cx="3131999" cy="511200"/>
          </a:xfrm>
          <a:prstGeom prst="roundRect">
            <a:avLst>
              <a:gd name="adj" fmla="val 45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0000" y="2358000"/>
            <a:ext cx="28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文创与科普物料设计说明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8000" y="2772000"/>
            <a:ext cx="3131999" cy="511200"/>
          </a:xfrm>
          <a:prstGeom prst="roundRect">
            <a:avLst>
              <a:gd name="adj" fmla="val 45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0000" y="2916000"/>
            <a:ext cx="28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前期文书模板（报名表、对接函）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8000" y="3330000"/>
            <a:ext cx="3131999" cy="511200"/>
          </a:xfrm>
          <a:prstGeom prst="roundRect">
            <a:avLst>
              <a:gd name="adj" fmla="val 45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0000" y="3474000"/>
            <a:ext cx="284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成果提交规范（对照活动通知）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8000" y="3978000"/>
            <a:ext cx="3096000" cy="19800"/>
          </a:xfrm>
          <a:prstGeom prst="rect">
            <a:avLst/>
          </a:prstGeom>
          <a:solidFill>
            <a:srgbClr val="8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8000" y="4086000"/>
            <a:ext cx="3131999" cy="14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共 10 页 PDF
</a:t>
            </a:r>
            <a:r>
              <a:rPr sz="103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六项核心 + 三项扩展 + 一页成果提交规范，全部是可直接填写的表格，</a:t>
            </a:r>
            <a:r>
              <a:rPr sz="103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不需要高额经费</a:t>
            </a:r>
            <a:r>
              <a:rPr sz="103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，只需要一个愿意跑的团队。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6000" y="5616000"/>
            <a:ext cx="446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4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同一套模板可以迁移到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36000" y="5868000"/>
            <a:ext cx="1044000" cy="342000"/>
          </a:xfrm>
          <a:prstGeom prst="roundRect">
            <a:avLst>
              <a:gd name="adj" fmla="val 500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春分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0000" y="5868000"/>
            <a:ext cx="1044000" cy="342000"/>
          </a:xfrm>
          <a:prstGeom prst="roundRect">
            <a:avLst>
              <a:gd name="adj" fmla="val 500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夏至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03999" y="5868000"/>
            <a:ext cx="1044000" cy="342000"/>
          </a:xfrm>
          <a:prstGeom prst="roundRect">
            <a:avLst>
              <a:gd name="adj" fmla="val 500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秋分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37999" y="5868000"/>
            <a:ext cx="1044000" cy="342000"/>
          </a:xfrm>
          <a:prstGeom prst="roundRect">
            <a:avLst>
              <a:gd name="adj" fmla="val 500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冬至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08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传播与反响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让成果走出社区：从学院信息栏，到 1500+ 次播放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1065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线下的一堂课，通过三条线留了下来：一条在学院，一条在短视频平台，一条在我们自己的网站上。</a:t>
            </a:r>
          </a:p>
        </p:txBody>
      </p:sp>
      <p:pic>
        <p:nvPicPr>
          <p:cNvPr id="6" name="Picture 5" descr="image18.png"/>
          <p:cNvPicPr>
            <a:picLocks noChangeAspect="1"/>
          </p:cNvPicPr>
          <p:nvPr/>
        </p:nvPicPr>
        <p:blipFill>
          <a:blip r:embed="rId2"/>
          <a:srcRect t="14091" b="14091"/>
          <a:stretch>
            <a:fillRect/>
          </a:stretch>
        </p:blipFill>
        <p:spPr>
          <a:xfrm>
            <a:off x="684000" y="1925999"/>
            <a:ext cx="5832000" cy="309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4000" y="1925999"/>
            <a:ext cx="5832000" cy="3096000"/>
          </a:xfrm>
          <a:prstGeom prst="rect">
            <a:avLst/>
          </a:prstGeom>
          <a:noFill/>
          <a:ln w="12700">
            <a:solidFill>
              <a:srgbClr val="D8D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5094000"/>
            <a:ext cx="5832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学院信息栏新闻稿：《生态与应用气象学院大学生志愿者开展暑期节气文化科普实践活动》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3999" y="1925999"/>
            <a:ext cx="4716000" cy="99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03999" y="1925999"/>
            <a:ext cx="46800" cy="990000"/>
          </a:xfrm>
          <a:prstGeom prst="rect">
            <a:avLst/>
          </a:prstGeom>
          <a:solidFill>
            <a:srgbClr val="1E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2000" y="2077199"/>
            <a:ext cx="1980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学院信息栏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2000" y="2329200"/>
            <a:ext cx="4284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新闻稿发布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2000" y="2664000"/>
            <a:ext cx="43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校园实践典范案例，覆盖学院师生与家长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03999" y="2988000"/>
            <a:ext cx="4716000" cy="99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03999" y="2988000"/>
            <a:ext cx="46800" cy="9900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2000" y="3139200"/>
            <a:ext cx="1980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B 站 · 抖音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2000" y="3391200"/>
            <a:ext cx="4284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1500+ 次播放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2000" y="3726000"/>
            <a:ext cx="43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纪实 Vlog 与采访片段，抖音 / B 站双平台发布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3999" y="4050000"/>
            <a:ext cx="4716000" cy="99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03999" y="4050000"/>
            <a:ext cx="46800" cy="9900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2000" y="4201200"/>
            <a:ext cx="1980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4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成果网站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2000" y="4453200"/>
            <a:ext cx="4284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永久在线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2000" y="4788000"/>
            <a:ext cx="43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xulu-debug.github.io/jieqi-site，含 32 图 2 视频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03999" y="5094000"/>
            <a:ext cx="4716000" cy="1080000"/>
          </a:xfrm>
          <a:prstGeom prst="roundRect">
            <a:avLst>
              <a:gd name="adj" fmla="val 4500"/>
            </a:avLst>
          </a:prstGeom>
          <a:solidFill>
            <a:srgbClr val="EFE9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0000" y="5238000"/>
            <a:ext cx="428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4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一句现场反馈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0000" y="5490000"/>
            <a:ext cx="4302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“原来立秋还有公秋母秋，我们家年年啃秋，却从没想过为什么。”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4000" y="378000"/>
            <a:ext cx="1080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8A24A"/>
                </a:solidFill>
                <a:latin typeface="Arial"/>
                <a:ea typeface="Arial"/>
                <a:cs typeface="Arial"/>
              </a:rPr>
              <a:t>09</a:t>
            </a:r>
            <a:r>
              <a:rPr sz="13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　　</a:t>
            </a:r>
            <a:r>
              <a:rPr sz="1250" b="1" i="0" spc="60">
                <a:solidFill>
                  <a:srgbClr val="3E7A6B"/>
                </a:solidFill>
                <a:latin typeface="微软雅黑"/>
                <a:ea typeface="微软雅黑"/>
                <a:cs typeface="微软雅黑"/>
              </a:rPr>
              <a:t>反思与下一步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4000" y="630000"/>
            <a:ext cx="10836000" cy="6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E28"/>
                </a:solidFill>
                <a:latin typeface="华文中宋"/>
                <a:ea typeface="华文中宋"/>
                <a:cs typeface="华文中宋"/>
              </a:rPr>
              <a:t>三个不足，三条下一步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1303200"/>
            <a:ext cx="936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22000"/>
            <a:ext cx="1065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七天能留下的东西有限，我们更清楚自己还差什么。下面三条既是自评，也是我们下一步的路线图。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000" y="1908000"/>
            <a:ext cx="3366000" cy="273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4000" y="1908000"/>
            <a:ext cx="3366000" cy="50400"/>
          </a:xfrm>
          <a:prstGeom prst="rect">
            <a:avLst/>
          </a:prstGeom>
          <a:solidFill>
            <a:srgbClr val="1E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5999" y="2023200"/>
            <a:ext cx="7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4A3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5999" y="2232000"/>
            <a:ext cx="2916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覆盖面窄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5999" y="2592000"/>
            <a:ext cx="792000" cy="19800"/>
          </a:xfrm>
          <a:prstGeom prst="rect">
            <a:avLst/>
          </a:prstGeom>
          <a:solidFill>
            <a:srgbClr val="1E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999" y="26712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现　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999" y="2851200"/>
            <a:ext cx="2916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只覆盖玉带园社区一个暑托班，
未能辐射周边街道。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999" y="354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999" y="3726000"/>
            <a:ext cx="2916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构建“高校—社区—居民”三位一体：</a:t>
            </a:r>
            <a:r>
              <a:rPr sz="10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把节气美育纳入社区托管与课后服务的固定课程。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2000" y="1908000"/>
            <a:ext cx="3366000" cy="273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2000" y="1908000"/>
            <a:ext cx="3366000" cy="504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000" y="2023200"/>
            <a:ext cx="7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E7A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4000" y="2232000"/>
            <a:ext cx="2916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在地性不足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4000" y="2592000"/>
            <a:ext cx="792000" cy="19800"/>
          </a:xfrm>
          <a:prstGeom prst="rect">
            <a:avLst/>
          </a:prstGeom>
          <a:solidFill>
            <a:srgbClr val="3E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4000" y="26712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现　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4000" y="2851200"/>
            <a:ext cx="2916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初期把通用民俗套用到南京，
本土特色被弱化。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000" y="354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4000" y="3726000"/>
            <a:ext cx="2916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建立南京在地民俗库，用本地材料</a:t>
            </a:r>
            <a:r>
              <a:rPr sz="10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替代网络通用素材，做出地区差异化对照。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0000" y="1908000"/>
            <a:ext cx="3366000" cy="273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1430">
            <a:solidFill>
              <a:srgbClr val="EFE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80000" y="1908000"/>
            <a:ext cx="3366000" cy="504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2000" y="2023200"/>
            <a:ext cx="7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A2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2000" y="2232000"/>
            <a:ext cx="2916000" cy="30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E28"/>
                </a:solidFill>
                <a:latin typeface="微软雅黑"/>
                <a:ea typeface="微软雅黑"/>
                <a:cs typeface="微软雅黑"/>
              </a:rPr>
              <a:t>缺长效机制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32000" y="2592000"/>
            <a:ext cx="792000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2000" y="2671200"/>
            <a:ext cx="86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现　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2000" y="2851200"/>
            <a:ext cx="2916000" cy="6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活动结束即散场，
缺少常态化承接渠道。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2000" y="3546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30">
                <a:solidFill>
                  <a:srgbClr val="A63A2B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32000" y="3726000"/>
            <a:ext cx="2916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E4A3C"/>
                </a:solidFill>
                <a:latin typeface="微软雅黑"/>
                <a:ea typeface="微软雅黑"/>
                <a:cs typeface="微软雅黑"/>
              </a:rPr>
              <a:t>资源包 2.0 + 社区常态课程，</a:t>
            </a:r>
            <a:r>
              <a:rPr sz="1060" b="0" i="0">
                <a:solidFill>
                  <a:srgbClr val="6B7A73"/>
                </a:solidFill>
                <a:latin typeface="微软雅黑"/>
                <a:ea typeface="微软雅黑"/>
                <a:cs typeface="微软雅黑"/>
              </a:rPr>
              <a:t>为网站增加留言互动、线上学习资源与持续收录。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000" y="4788000"/>
            <a:ext cx="10800000" cy="1278000"/>
          </a:xfrm>
          <a:prstGeom prst="roundRect">
            <a:avLst>
              <a:gd name="adj" fmla="val 4500"/>
            </a:avLst>
          </a:prstGeom>
          <a:solidFill>
            <a:srgbClr val="1E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4000" y="4932000"/>
            <a:ext cx="216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5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网站 2.0 已列上日程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000" y="5220000"/>
            <a:ext cx="2484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留言互动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000" y="5490000"/>
            <a:ext cx="248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居民可以在线补一条本地民俗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1999" y="5220000"/>
            <a:ext cx="2484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地区对照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1999" y="5490000"/>
            <a:ext cx="248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同一节气，南京 vs 其他城市的做法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0000" y="5220000"/>
            <a:ext cx="2484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线上学习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0000" y="5490000"/>
            <a:ext cx="248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把课堂脚本做成可自学的图文课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7999" y="5220000"/>
            <a:ext cx="2484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持续收录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7999" y="5490000"/>
            <a:ext cx="2484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每次实践的口述素材并入民俗库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AA59F"/>
                </a:solidFill>
                <a:latin typeface="Arial"/>
                <a:ea typeface="Arial"/>
                <a:cs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A3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bg.png"/>
          <p:cNvPicPr>
            <a:picLocks noChangeAspect="1"/>
          </p:cNvPicPr>
          <p:nvPr/>
        </p:nvPicPr>
        <p:blipFill>
          <a:blip r:embed="rId2"/>
          <a:srcRect t="7817" b="7817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42A24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1224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8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南京信息工程大学 · 逐光下乡实践团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4000" y="1584000"/>
            <a:ext cx="8640000" cy="79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pc="150">
                <a:solidFill>
                  <a:srgbClr val="FFFFFF"/>
                </a:solidFill>
                <a:latin typeface="华文中宋"/>
                <a:ea typeface="华文中宋"/>
                <a:cs typeface="华文中宋"/>
              </a:rPr>
              <a:t>谢谢聆听</a:t>
            </a:r>
          </a:p>
        </p:txBody>
      </p:sp>
      <p:sp>
        <p:nvSpPr>
          <p:cNvPr id="6" name="Rectangle 5"/>
          <p:cNvSpPr/>
          <p:nvPr/>
        </p:nvSpPr>
        <p:spPr>
          <a:xfrm>
            <a:off x="972000" y="2502000"/>
            <a:ext cx="2015999" cy="19800"/>
          </a:xfrm>
          <a:prstGeom prst="rect">
            <a:avLst/>
          </a:prstGeom>
          <a:solidFill>
            <a:srgbClr val="C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2000" y="2700000"/>
            <a:ext cx="7920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8A24A"/>
                </a:solidFill>
                <a:latin typeface="微软雅黑"/>
                <a:ea typeface="微软雅黑"/>
                <a:cs typeface="微软雅黑"/>
              </a:rPr>
              <a:t>把一棵立秋，种成一整年的二十四节气。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000" y="3384000"/>
            <a:ext cx="774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9E4DD"/>
                </a:solidFill>
                <a:latin typeface="微软雅黑"/>
                <a:ea typeface="微软雅黑"/>
                <a:cs typeface="微软雅黑"/>
              </a:rPr>
              <a:t>如果你也打算在一个社区做节气，我们的网站（MIT 协议开源）、资源包和流程全部公开，拿去改一改就能用。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0" y="4788000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汇报人 陆旭　｜　队长 刘杭　｜　队员 钟孝宇 · 张尔凡 · 孟夏杰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5112000"/>
            <a:ext cx="720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指导教师 江晓东　｜　生态与应用气象学院　｜　2026 年 9 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6000" y="1548000"/>
            <a:ext cx="2304000" cy="230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000" y="1728000"/>
            <a:ext cx="1944000" cy="194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56000" y="3978000"/>
            <a:ext cx="230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扫码打开成果网站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6000" y="4338000"/>
            <a:ext cx="30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E4DD"/>
                </a:solidFill>
                <a:latin typeface="Arial"/>
                <a:ea typeface="Arial"/>
                <a:cs typeface="Arial"/>
              </a:rPr>
              <a:t>xulu-debug.github.io/jieqi-site</a:t>
            </a:r>
          </a:p>
        </p:txBody>
      </p:sp>
      <p:sp>
        <p:nvSpPr>
          <p:cNvPr id="15" name="Rectangle 14">
            <a:hlinkClick r:id="rId4"/>
          </p:cNvPr>
          <p:cNvSpPr/>
          <p:nvPr/>
        </p:nvSpPr>
        <p:spPr>
          <a:xfrm>
            <a:off x="8496000" y="4284000"/>
            <a:ext cx="3024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6426000"/>
            <a:ext cx="792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B3A6"/>
                </a:solidFill>
                <a:latin typeface="微软雅黑"/>
                <a:ea typeface="微软雅黑"/>
                <a:cs typeface="微软雅黑"/>
              </a:rPr>
              <a:t>循节气文脉，探天文农智　|　南京信息工程大学 逐光下乡实践团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2000" y="6426000"/>
            <a:ext cx="10079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B3A6"/>
                </a:solidFill>
                <a:latin typeface="Arial"/>
                <a:ea typeface="Arial"/>
                <a:cs typeface="Arial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