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7.svg" ContentType="image/svg+xml"/>
  <Override PartName="/ppt/media/image39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3.svg" ContentType="image/svg+xml"/>
  <Override PartName="/ppt/media/image55.svg" ContentType="image/svg+xml"/>
  <Override PartName="/ppt/media/image60.svg" ContentType="image/svg+xml"/>
  <Override PartName="/ppt/media/image62.svg" ContentType="image/svg+xml"/>
  <Override PartName="/ppt/media/image68.svg" ContentType="image/svg+xml"/>
  <Override PartName="/ppt/media/image7.svg" ContentType="image/svg+xml"/>
  <Override PartName="/ppt/media/image71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南京信息工程大学的“逐光下乡实践团”。今天，我们非常荣幸能在这里与大家分享我们团队在这个夏天开展的“循节气文脉，探天文农智”二十四节气美育社会实践项目。这次实践不仅是一次知识的探索，更是一次文化的传承之旅。接下来，我们将为大家详细介绍我们的项目成果与感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。首先，我们会介绍项目的背景，阐述我们为何发起这次实践。接着，会说明我们的目标定位、具体的规划实施过程以及项目的核心亮点。之后，我们会通过量化和质性分析来展示项目带来的效益，并介绍我们团队的优势。最后，对项目进行反思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首先，让我们回到起点，探讨一下我们为什么会发起这次关于二十四节气的社会实践项目。这背后，既有时代发展带来的挑战，也有我们对传统文化传承的深切思考。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有没有想过，我们有多久没有关注过节气了？在城市化的浪潮中，我们与自然的联系日益疏远。我们发现，节气知识在代际之间出现了明显的断层，老人们熟知的民俗，到了我们这一代可能只剩下模糊的印象。同时，网络上碎片化的信息也容易造成误解。这让我们意识到，必须采取行动，让这项宝贵的文化遗产重新“活”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得到了国家政策的有力支持。同时，通过深入社区，我们发现不同年龄段的居民对节气文化有着不同的需求：老人们想分享，中年父母想学习，孩子们想体验。这让我们看到了一个巨大的机会，我们可以搭建一个平台，满足大家的需求，让节气文化在社区里真正地传承下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始于一次深入的社区调研。我们走进社区，与爷爷奶奶们聊天，听他们讲述那些生动的节气故事。这次调研让我们收获满满，不仅了解了居民们的真实需求，也收集到了大量鲜活的口述民俗，这些都成为了我们后续科普内容的宝贵素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明确了出发的原因，接下来我们要清晰地知道，我们希望通过这次实践到达哪里。这就是我们的目标定位。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总目标非常明确，就是要让节气文化“活”在社区里。我们不希望它只是一个遥远的文化符号，而是希望它能真正走进人们的生活，特别是让孩子们能够亲身感受和喜爱上这份古老的智慧。我们希望通过我们的努力，让社区成为传承节气文化的重要阵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总目标能够落地，我们设定了三个具体的、可衡量的目标。首先是提升大家的认知水平，让大家不仅知其然，更知其所以然。其次是激发实践兴趣，让大家从“听”到“做”，主动去探索和体验。最后，也是最重要的一点，是构建一个传承共同体，让不同代际的人能够互相学习，共同守护我们的文化根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不仅仅是完成一个项目，我们更希望看到一些实实在在的改变。我们希望看到孩子们对自然充满好奇，老人们的智慧得到传承，整个社区都沉浸在学习和传承节气文化的氛围中。这张照片就是我们理想中的场景，充满了欢乐和知识的火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有了明确的目标，接下来就是如何一步步实现它。在这一部分，我将向大家介绍我们的规划与实施过程。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施过程遵循一个“三步走”的模式。第一步，我们深入社区走访，倾听居民的声音，了解他们的需求。第二步，我们走进专业的场馆进行研学，充实我们自己的知识储备。第三步，我们再带着这些有温度、有深度的知识回到社区，进行公益宣讲。这个闭环模式保证了我们实践的科学性和实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时间轴。从精心筹备开始，我们实地观察了玄武湖的物候变化，就像这张照片里泛黄的荷叶，让我们对“立秋”有了更直观的感受。然后我们去了紫金山天文台，在浑仪这些古老仪器前，感受了节气背后的科学魅力。紧接着是深入社区走访，最后是精彩的宣讲。这7天虽然忙碌，但收获满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宣讲现场的照片。大家可以看到，主讲人正在投入地讲解，台下的孩子们也听得非常专注。我们不仅有知识的讲解，还有有趣的手工和互动环节。整个课堂充满了欢声笑语，我们能感受到孩子们对这些知识的渴望和喜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在整个实践过程中，我们总结了几个核心亮点，这些是我们认为自己做对了的地方，也是我们项目能够取得良好效果的关键。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最大的亮点，就是实现了从“单向输出”到“双向奔赴”的转变。我们不仅仅是知识的传播者，更是知识的学习者。我们向社区的爷爷奶奶们学习宝贵的民俗经验，然后再将这些经验与科学知识结合，回馈给社区。这种模式让我们和居民之间建立了深厚的情感连接，实现了真正的共同成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二个亮点是发挥了专业优势，讲好了“南京故事”。我们团队的专业背景让我们能够将科学原理和民俗故事完美结合。更重要的是，我们没有讲空洞的理论，而是深入挖掘了南京本地的特色，比如立秋要吃盐水鸭。这种接地气的内容，让我们的科普变得非常亲切和受欢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三个亮点，是为社区和社会留下了一份“带得走”的礼物。我们制作了一个成果网站，方便大家随时学习。我们还整理了一份详细的《科普实践资源包》，任何其他团队拿到手就能快速开展类似活动。同时，我们通过抖音、B站等新媒体平台扩大了传播范围。我们希望这些成果能像种子一样，在更多地方开花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那么，我们的项目究竟带来了什么呢？在这一部分，我们将从量化和质性两个方面，来分析我们项目产生的效益。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量化成果。大家可以看这两张饼图，左边是宣讲前，右边是宣讲后。可以看到，“很了解”节气的人数从1人飙升到17人，占比达到了85%！这是一个非常显著的提升。同时，大家践行民俗、传播习俗的意愿也大大增强。这些冰冷的数字背后，是我们实实在在的改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数据，我们还收获了许多温暖的故事。我们看到孩子们对自然的好奇心被点燃，看到青少年对传统文化的认知得到重塑，更看到了社区里不同代际的人开始互相交流、互相学习。这张柱状图也显示了大家积极的行为意愿。这些感受得到的温暖，比任何数据都更有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我们的项目也获得了不错的社会反响。学院官网对我们的活动进行了报道，线上的传播也取得了不错的效果。这些认可让我们感到非常自豪，也激励着我们继续前行。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一个成功的项目背后，必然有一个优秀的团队。接下来，我将向大家介绍我们团队的优势。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的最大优势就是跨学科的专业组合。智慧农业专业的同学保证了我们内容的科学性，信息管理专业的同学则保障了项目的顺利执行。这种专业互补让我们能够把事情做得既深入又扎实，真正实现了1+1大于2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光有专业是不够的，认真负责的团队精神才是我们的制胜法宝。我们精心打磨每一个细节，全心投入每一次互动，并且团队成员之间默契配合。这张在天文台的合影，就展现了我们团队积极向上的精神面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我们的成功，同样离不开指导老师的悉心指导。从项目策划到内容把关，再到过程支持，江晓东老师都给予了我们极大的帮助。在这里，我们要向老师表示最衷心的感谢！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总结过去，是为了更好地走向未来。在最后一部分，我们将对项目进行反思，并展望未来的发展方向。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我们也清醒地认识到项目存在的不足。比如，我们的覆盖范围还很有限，内容深度还有待加强，而且缺乏长效机制。正视这些问题，才能让我们在未来走得更远。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不足，我们提出了三点未来规划。首先，构建一个“高校-社区-居民”三位一体的协同机制，让传承变得常态化。其次，继续完善我们的科普工具包，让它更易用。最后，建立线上线下融合的传播矩阵，扩大影响力。我们相信，通过这些努力，节气文化的传承之路会越走越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我们的汇报到此结束。传承中华优秀传统文化是一条漫长而充满希望的道路，我们愿意做那个追逐光的人。我们的脚步不会停止，我们将继续“逐光”而行！感谢大家的聆听！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24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14.svg"/><Relationship Id="rId5" Type="http://schemas.openxmlformats.org/officeDocument/2006/relationships/image" Target="../media/image42.png"/><Relationship Id="rId4" Type="http://schemas.openxmlformats.org/officeDocument/2006/relationships/image" Target="../media/image12.svg"/><Relationship Id="rId3" Type="http://schemas.openxmlformats.org/officeDocument/2006/relationships/image" Target="../media/image41.png"/><Relationship Id="rId2" Type="http://schemas.openxmlformats.org/officeDocument/2006/relationships/image" Target="../media/image17.jpe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9.jpe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svg"/><Relationship Id="rId8" Type="http://schemas.openxmlformats.org/officeDocument/2006/relationships/image" Target="../media/image59.png"/><Relationship Id="rId7" Type="http://schemas.openxmlformats.org/officeDocument/2006/relationships/image" Target="../media/image12.svg"/><Relationship Id="rId6" Type="http://schemas.openxmlformats.org/officeDocument/2006/relationships/image" Target="../media/image41.png"/><Relationship Id="rId5" Type="http://schemas.openxmlformats.org/officeDocument/2006/relationships/image" Target="../media/image16.sv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3.png"/><Relationship Id="rId7" Type="http://schemas.openxmlformats.org/officeDocument/2006/relationships/image" Target="../media/image7.svg"/><Relationship Id="rId6" Type="http://schemas.openxmlformats.org/officeDocument/2006/relationships/image" Target="../media/image40.png"/><Relationship Id="rId5" Type="http://schemas.openxmlformats.org/officeDocument/2006/relationships/image" Target="../media/image16.svg"/><Relationship Id="rId4" Type="http://schemas.openxmlformats.org/officeDocument/2006/relationships/image" Target="../media/image58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16.svg"/><Relationship Id="rId3" Type="http://schemas.openxmlformats.org/officeDocument/2006/relationships/image" Target="../media/image58.png"/><Relationship Id="rId2" Type="http://schemas.openxmlformats.org/officeDocument/2006/relationships/image" Target="../media/image69.jpe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svg"/><Relationship Id="rId7" Type="http://schemas.openxmlformats.org/officeDocument/2006/relationships/image" Target="../media/image40.png"/><Relationship Id="rId6" Type="http://schemas.openxmlformats.org/officeDocument/2006/relationships/image" Target="../media/image19.svg"/><Relationship Id="rId5" Type="http://schemas.openxmlformats.org/officeDocument/2006/relationships/image" Target="../media/image73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72.jpe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23.svg"/><Relationship Id="rId2" Type="http://schemas.openxmlformats.org/officeDocument/2006/relationships/image" Target="../media/image74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14.svg"/><Relationship Id="rId4" Type="http://schemas.openxmlformats.org/officeDocument/2006/relationships/image" Target="../media/image42.png"/><Relationship Id="rId3" Type="http://schemas.openxmlformats.org/officeDocument/2006/relationships/image" Target="../media/image7.svg"/><Relationship Id="rId2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循节气文脉，探天文农智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746500"/>
            <a:ext cx="1016000" cy="38100"/>
          </a:xfrm>
          <a:prstGeom prst="roundRect">
            <a:avLst>
              <a:gd name="adj" fmla="val 0"/>
            </a:avLst>
          </a:prstGeom>
          <a:solidFill>
            <a:srgbClr val="A162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二十四节气美育社会实践项目总结报告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南京信息工程大学 逐光下乡实践团 | 2026年9月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5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我们为何出发？探寻初心与缘起，明确项目发起的深层动因与时代背景。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32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目标定位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我们想去哪里？锚定发展方向，确立项目的核心目标与战略定位。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63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59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规划实施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我们如何到达？详述路径与步骤，拆解项目落地的关键举措与执行方案。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09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0" y="205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核心亮点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我们做对了什么？提炼项目创新点与差异化优势，展现独特价值主张。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17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336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332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效益分析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我们带来了什么？从经济、社会与生态维度，量化项目产出与长远影响。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635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4597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团队优势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我们是谁？汇聚行业精英与专业力量，构建高效协同的执行团队。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A1620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842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778000" y="5842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发展愿景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我们将走向何方？展望未来蓝图，描绘项目可持续发展的长远愿景与宏伟蓝图。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762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3723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我们为何出发？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65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85A3C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从传统节气智慧中汲取灵感，探索文化传承与现代实践的融合之路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时代的呼唤：当传统遇上现代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31" r="31"/>
          <a:stretch>
            <a:fillRect/>
          </a:stretch>
        </p:blipFill>
        <p:spPr>
          <a:xfrm>
            <a:off x="762000" y="1778000"/>
            <a:ext cx="3810000" cy="2540000"/>
          </a:xfrm>
          <a:prstGeom prst="rect">
            <a:avLst/>
          </a:prstGeom>
          <a:noFill/>
          <a:ln w="25400" cap="flat" cmpd="sng">
            <a:solidFill>
              <a:srgbClr val="A16207">
                <a:alpha val="30000"/>
              </a:srgbClr>
            </a:solidFill>
            <a:prstDash val="solid"/>
            <a:round/>
          </a:ln>
          <a:effectLst>
            <a:outerShdw blurRad="152400" dist="50800" dir="2700000" algn="tl">
              <a:srgbClr val="A16207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3C28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二十四节气不仅是历法，更是中国人感知自然、安顿身心的时间智慧。它不应是博物馆里陈列的展品，而应是融入我们日常饮食起居的鲜活文化。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0" y="2006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1879600"/>
            <a:ext cx="565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城市化浪潮：自然联结的断裂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城市的快速扩张让我们远离土地，传统农耕文明的根基逐渐松动。那些曾指导春耕秋收的节气智慧，在钢筋水泥的丛林中逐渐失去了其实践土壤与生活指引功能。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953000" y="31115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0" y="33401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15000" y="3213100"/>
            <a:ext cx="565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代际认知断层：记忆的流失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老一辈深谙“立秋啃秋”、“冬至进补”的民俗精髓，而年轻一代的认知往往只停留在课本上的节气歌。这种“老人懂民俗、青年知皮毛”的断层，让文化传承面临断档的风险。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4445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0" y="46736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15000" y="4546600"/>
            <a:ext cx="565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碎片化传播：认知的割裂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网络上的碎片化信息虽有趣，却割裂了节气背后完整的天文、气象与农耕逻辑。这种碎片化的认知，让大众难以理解其深层的文化内涵与科学价值。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953000" y="5842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让节气回归生活，重拾东方生活美学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政策的指引与现实的需求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2794000" cy="3098800"/>
          </a:xfrm>
          <a:prstGeom prst="rect">
            <a:avLst/>
          </a:prstGeom>
          <a:noFill/>
          <a:ln w="25400" cap="flat" cmpd="sng">
            <a:solidFill>
              <a:srgbClr val="A16207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73A0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中华优秀传统文化传承发展工程重点项目概览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0" y="1778000"/>
            <a:ext cx="7620000" cy="1397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127500" y="1930400"/>
            <a:ext cx="723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政策号召：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响应国家《关于实施中华优秀传统文化传承发展工程的意见》，深挖二十四节气的时代价值，推动传统习俗“创造性转化、创新性发展”，让古老的文化智慧在现代生活中焕发新生。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37000" y="3429000"/>
            <a:ext cx="2413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7500" y="36195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08500" y="36068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长者：经验宝库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127500" y="40894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拥有丰富的节气生活智慧与记忆，渴望分享却缺乏表达平台，是传统文化的活态传承者。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3429000"/>
            <a:ext cx="2413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36195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36068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家长：科学科普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31000" y="40894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知识零散且不成体系，亟需系统、科学的节气知识科普，以便更好地向孩子传递文化内涵。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3429000"/>
            <a:ext cx="2413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36195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715500" y="36068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孩童：趣味体验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34500" y="40894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对自然充满好奇，拒绝枯燥说教，渴望通过互动、沉浸式的方式亲身感受节气的魅力。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937000" y="5461000"/>
            <a:ext cx="7620000" cy="762000"/>
          </a:xfrm>
          <a:prstGeom prst="roundRect">
            <a:avLst>
              <a:gd name="adj" fmla="val 0"/>
            </a:avLst>
          </a:prstGeom>
          <a:solidFill>
            <a:srgbClr val="A1620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064000" y="5588000"/>
            <a:ext cx="736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“搭建一座桥梁，连接传统与现代，让节气文化在社区中生生不息，连接每一代人的情感与记忆。”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我们的起点：一次深入的社区调研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43" r="1943"/>
          <a:stretch>
            <a:fillRect/>
          </a:stretch>
        </p:blipFill>
        <p:spPr>
          <a:xfrm>
            <a:off x="762000" y="1778000"/>
            <a:ext cx="4064000" cy="2921000"/>
          </a:xfrm>
          <a:prstGeom prst="rect">
            <a:avLst/>
          </a:prstGeom>
          <a:noFill/>
          <a:ln w="25400" cap="flat" cmpd="sng">
            <a:solidFill>
              <a:srgbClr val="A16207">
                <a:alpha val="3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715000" y="1803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倾听口述民俗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深度访谈25位社区居民，挖掘“公秋母秋”、“啃秋晒秋”等南京特有的民俗记忆，打捞那些散落在民间、未被书本记载的鲜活文化碎片。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3111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3073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洞察认知现状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调研发现，居民对节气的认知多停留在“听说过”的浅层阶段，缺乏系统的知识体系，且与日常生活场景脱节，对生活化、趣味化的科普需求迫切。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4318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42799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锚定服务方向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确立“科学严谨+趣味生动+本土特色”的内容基调，紧扣南京地域文化，将节气知识与本地生活、民俗故事深度融合，打造有温度的科普内容。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52525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这次扎根社区的调研，不仅为项目锚定了前行的方向，更让我们收获了书本之外的鲜活民俗智慧，成为滋养内容创作的源头活水。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2525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我们想去哪里？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让节气文化“活”在社区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58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推动二十四节气文化在城市社区的活态传承，让更多人，特别是青少年，真正了解、喜爱并传承这份宝贵的文化遗产。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185">
            <a:off x="762008" y="3930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620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4191000"/>
            <a:ext cx="558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我们希望让二十四节气不再是书本上冰冷的文字，而是看得见、摸得着的生活智慧。它将融入社区日常，成为连接代际情感、增进邻里交流的温暖纽带，让传统文化在现代生活中焕发新生。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94500" y="2222500"/>
            <a:ext cx="4445000" cy="31242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13" b="13"/>
          <a:stretch>
            <a:fillRect/>
          </a:stretch>
        </p:blipFill>
        <p:spPr>
          <a:xfrm>
            <a:off x="6858000" y="2286000"/>
            <a:ext cx="4318000" cy="2997200"/>
          </a:xfrm>
          <a:prstGeom prst="rect">
            <a:avLst/>
          </a:prstGeom>
          <a:noFill/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858000" y="546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16207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暑托班课堂实录：孩子们在实践中感受节气魅力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具体目标：三个维度的提升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162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提升认知水平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65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通过科普宣讲，让社区居民尤其是青少年，系统深入地了解立秋的物候特征、民俗故事与科学原理，建立对传统节气的文化认同与科学认知。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162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476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451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激发实践兴趣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365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以趣味手工、互动问答等形式，让大家从“听”走向“做”，主动观察身边的物候变化，亲身践行贴秋膘、啃秋等传统习俗，在体验中感受节气魅力。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162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476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构建传承共同体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365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搭建代际交流平台，促成“青年科普+老人传俗”的良性互动。让长者的经验与青年的知识互补，形成人人参与、代代相传的文化传承生态。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目标可视化：我们的期望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407" r="407"/>
          <a:stretch>
            <a:fillRect/>
          </a:stretch>
        </p:blipFill>
        <p:spPr>
          <a:xfrm>
            <a:off x="762000" y="1905000"/>
            <a:ext cx="3810000" cy="2667000"/>
          </a:xfrm>
          <a:prstGeom prst="rect">
            <a:avLst/>
          </a:prstGeom>
          <a:noFill/>
          <a:ln w="25400" cap="flat" cmpd="sng">
            <a:solidFill>
              <a:srgbClr val="A16207">
                <a:alpha val="40000"/>
              </a:srgbClr>
            </a:solidFill>
            <a:prstDash val="solid"/>
            <a:round/>
          </a:ln>
          <a:effectLst>
            <a:outerShdw blurRad="152400" dist="76200" dir="2700000" algn="tl">
              <a:srgbClr val="A16207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暑托班节气课堂实景</a:t>
            </a:r>
            <a:br>
              <a:rPr lang="en-US" sz="1300" b="0" i="0" u="none" strike="noStrike">
                <a:solidFill>
                  <a:srgbClr val="525252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25252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孩子们在互动中感受传统文化的魅力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905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2133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78500" y="2032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童心探趣 · 感知自然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让孩子们走出书本，主动观察梧桐叶落、感知季节更替，用好奇的眼睛发现节气之美，让自然成为最好的课堂。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953000" y="3302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3530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78500" y="3429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耆宿传薪 · 延续记忆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尊重并传承老人们的民俗记忆与生活智慧，让长者成为社区里的“节气顾问”，让传统文化在代际间温暖传递。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4699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4927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78500" y="4826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邻里共融 · 浸润日常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让节气文化融入社区生活的肌理，形成学习、讨论、践行的良好氛围，共建一个充满生机与温情的“节气社区”。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3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规划实施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16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573A15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我们如何到达？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“三步走”模式：从社区中来，到社区中去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03C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我们设计了一套“走访-研学-宣讲”三位一体的实践模式，将调研、学习与分享紧密结合，确保科普内容既有学术深度，又贴合社区需求，形成完整的实践闭环。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社区走访 · 倾听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深入社区街巷，与居民面对面交流，了解大众对节气文化的认知现状与真实需求。这不仅是调研，更是“对症下药”前的“望闻问切”，为科普内容找准方向。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79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3048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181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场馆研学 · 溯源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3619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走进紫金山天文台等专业场馆，溯源二十四节气的天文历法根基。通过系统学习，夯实知识储备，确保科普内容的科学性、准确性与严谨性，让分享更有底气。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79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3048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公益宣讲 · 传递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3619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将调研所得与专业知识融合，面向社区居民及暑托班儿童开展趣味美育课堂。用生动的方式传递文化魅力，完成从汲取到回馈的闭环，让知识真正服务于大众。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16207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从社区中来，到社区中去，让传统文化在烟火人间落地生根 ——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详细执行过程：充实而忙碌的7天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250" r="6250"/>
          <a:stretch>
            <a:fillRect/>
          </a:stretch>
        </p:blipFill>
        <p:spPr>
          <a:xfrm>
            <a:off x="1778000" y="1651000"/>
            <a:ext cx="355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A16207">
                <a:alpha val="40000"/>
              </a:srgbClr>
            </a:solidFill>
            <a:prstDash val="solid"/>
            <a:round/>
          </a:ln>
          <a:effectLst>
            <a:outerShdw blurRad="127000" dist="50800" dir="2700000" algn="tl">
              <a:srgbClr val="A16207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7142" b="7142"/>
          <a:stretch>
            <a:fillRect/>
          </a:stretch>
        </p:blipFill>
        <p:spPr>
          <a:xfrm>
            <a:off x="6858000" y="1651000"/>
            <a:ext cx="355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A16207">
                <a:alpha val="40000"/>
              </a:srgbClr>
            </a:solidFill>
            <a:prstDash val="solid"/>
            <a:round/>
          </a:ln>
          <a:effectLst>
            <a:outerShdw blurRad="127000" dist="50800" dir="2700000" algn="tl">
              <a:srgbClr val="A16207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19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7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2926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/ 8月7日-8日 · 精心筹备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320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召开项目启动会明确分工，赴玄武湖实地观察立秋物候变化，备齐12类活动物资，为项目顺利开展筑牢根基。</a:t>
            </a:r>
            <a:endParaRPr lang="en-US" sz="1300" b="0" i="0" u="none" strike="noStrike">
              <a:solidFill>
                <a:srgbClr val="4B320A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159500" y="419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7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42926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/ 8月9日 · 溯源研学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320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走进紫金山天文台，参观二十四节气专题展，透过浑仪等古老天文仪器，探寻古人观测天象、制定节气的智慧。</a:t>
            </a:r>
            <a:endParaRPr lang="en-US" sz="1300" b="0" i="0" u="none" strike="noStrike">
              <a:solidFill>
                <a:srgbClr val="4B320A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7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54991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/ 8月11日 · 深入走访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320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走进玉带园社区，随机访谈25位居民，收集鲜活的立秋口述民俗与民间记忆，挖掘节气文化的生活底蕴。</a:t>
            </a:r>
            <a:endParaRPr lang="en-US" sz="1300" b="0" i="0" u="none" strike="noStrike">
              <a:solidFill>
                <a:srgbClr val="4B320A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595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7ED">
              <a:alpha val="7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54991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/ 8月12日 · 精彩宣讲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320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在社区新时代文明实践站开展“立秋”主题美育课，为居民与孩童讲述节气故事，穿插手工互动与问答，传递文化之美。</a:t>
            </a:r>
            <a:endParaRPr lang="en-US" sz="1300" b="0" i="0" u="none" strike="noStrike">
              <a:solidFill>
                <a:srgbClr val="4B320A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宣讲现场：知识与欢乐的碰撞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22" r="1022"/>
          <a:stretch>
            <a:fillRect/>
          </a:stretch>
        </p:blipFill>
        <p:spPr>
          <a:xfrm>
            <a:off x="762000" y="1778000"/>
            <a:ext cx="4064000" cy="3048000"/>
          </a:xfrm>
          <a:prstGeom prst="rect">
            <a:avLst/>
          </a:prstGeom>
          <a:noFill/>
          <a:ln w="25400" cap="flat" cmpd="sng">
            <a:solidFill>
              <a:srgbClr val="A16207">
                <a:alpha val="4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现场气氛热烈，孩子们全神贯注，在寓教于乐的氛围中，不仅学到了节气知识，更感受到了传统文化的深厚底蕴与独特魅力，让知识的传递变得生动而温暖。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35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宣讲课堂是项目的高光时刻。我们融合天文台的科学洞察与社区的民俗记忆，将立秋的自然奥秘与人文故事娓娓道来，让古老的节气智慧在现代课堂中鲜活起来。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3302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500" y="349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778500" y="3492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落叶手作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4000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捡拾斑斓秋叶，发挥创意进行剪贴创作。在指尖的律动中，亲手触摸季节的色彩，将金秋的美好定格在纸上。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02500" y="3302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3000" y="349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874000" y="3492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趣味问答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29500" y="4000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围绕节气知识展开趣味提问，激发孩子们的好奇心。在一问一答的互动中，深化对立秋物候特征与传统习俗的认知。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98000" y="3302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8500" y="3492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969500" y="3492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民俗追忆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0" y="4000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邀请社区长者登台分享，讲述老一辈的立秋记忆与民俗故事。让珍贵的民间文化在代际之间温暖传递，连接过去与当下。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5715000"/>
            <a:ext cx="622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让传统节气文化，在孩子们心中种下一颗传承的种子，生根发芽。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2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73A12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我们做对了什么？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亮点一：从“单向输出”到“双向奔赴”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39" b="239"/>
          <a:stretch>
            <a:fillRect/>
          </a:stretch>
        </p:blipFill>
        <p:spPr>
          <a:xfrm>
            <a:off x="762000" y="1778000"/>
            <a:ext cx="4064000" cy="2794000"/>
          </a:xfrm>
          <a:prstGeom prst="rect">
            <a:avLst/>
          </a:prstGeom>
          <a:noFill/>
          <a:ln w="25400" cap="flat" cmpd="sng">
            <a:solidFill>
              <a:srgbClr val="A16207">
                <a:alpha val="25000"/>
              </a:srgbClr>
            </a:solidFill>
            <a:prstDash val="solid"/>
            <a:round/>
          </a:ln>
          <a:effectLst>
            <a:outerShdw blurRad="152400" dist="63500" dir="2700000" algn="tl">
              <a:srgbClr val="A16207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走进社区深处，与居民围坐畅谈。我们不仅是知识的传播者，更是民间智慧的记录者与学习者，让科普真正扎根于生活的土壤，焕发鲜活的生命力。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350000" cy="1333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968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32500" y="1930400"/>
            <a:ext cx="539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向居民学习：做社区的“小学生”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32500" y="2336800"/>
            <a:ext cx="539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放下身段，俯身倾听居民的生活故事与民俗记忆，挖掘在地文化中的智慧，让科普内容不再是冷冰冰的理论，而是充满烟火气的生活实践。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207000" y="3302000"/>
            <a:ext cx="6350000" cy="1333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3492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32500" y="3454400"/>
            <a:ext cx="539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为居民服务：把知识讲“活”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32500" y="3860800"/>
            <a:ext cx="539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将晦涩的科学知识转化为居民听得懂、愿意听的语言，结合收集的民俗故事进行再创作，让科普内容既接地气又有温度，真正实现知识的“软着陆”。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4826000"/>
            <a:ext cx="6350000" cy="1333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0" y="5016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32500" y="4978400"/>
            <a:ext cx="539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共同成长：让温暖双向流动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32500" y="5384800"/>
            <a:ext cx="539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居民收获科学素养，团队积累实践经验，在互动中打破隔阂，实现“教学相长”，让社区科普成为一场充满温情的双向奔赴。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亮点二：用专业讲好“南京故事”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作为南京信息工程大学的学子，我们将专业所长融入传统文化传播，让科学知识与本土民俗碰撞出独特的火花，让节气科普更有温度与深度。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71600" y="2819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科学与民俗的深度融合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2766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智慧农业专业解析气象物候的科学原理，信息管理专业梳理民俗故事的脉络。我们把“圭表测影”的科学与“啃秋”的民俗结合，让传统文化既有理有据，又生动有趣。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381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7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71600" y="45339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打造“南京味”的节气美育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9911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拒绝千篇一律的通用知识，深挖南京本土记忆。从玄武湖的荷花到金陵盐水鸭，从老南京口中的“公秋母秋”到街巷里的时令食俗，让科普扎根乡土，倍感亲切。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26" r="26"/>
          <a:stretch>
            <a:fillRect/>
          </a:stretch>
        </p:blipFill>
        <p:spPr>
          <a:xfrm>
            <a:off x="6604000" y="2286000"/>
            <a:ext cx="4826000" cy="2717800"/>
          </a:xfrm>
          <a:prstGeom prst="rect">
            <a:avLst/>
          </a:prstGeom>
          <a:noFill/>
          <a:ln w="25400" cap="flat" cmpd="sng">
            <a:solidFill>
              <a:srgbClr val="A16207">
                <a:alpha val="3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604000" y="520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立秋食鸭，金陵雅味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南京人立秋素有吃盐水鸭的习俗，肉质鲜嫩、咸香可口，这不仅是味蕾的享受，更是独属于这座城市的节气仪式与文化传承。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亮点三：留下一份“带得走”的礼物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实践不止于当下的体验，更在于价值的延续。我们将活动成果转化为可传播、可复用的资源，让二十四节气的文化种子，在更广阔的土壤中生根发芽。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846" r="3846"/>
          <a:stretch>
            <a:fillRect/>
          </a:stretch>
        </p:blipFill>
        <p:spPr>
          <a:xfrm>
            <a:off x="762000" y="2667000"/>
            <a:ext cx="2794000" cy="1651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059" b="2059"/>
          <a:stretch>
            <a:fillRect/>
          </a:stretch>
        </p:blipFill>
        <p:spPr>
          <a:xfrm>
            <a:off x="3810000" y="2667000"/>
            <a:ext cx="1778000" cy="2413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33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A16207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“让这份文化的礼物，成为连接过去与未来的桥梁。”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0" y="26035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2819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94500" y="27051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云端留存：永不落幕的成果展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搭建专属实践成果网站，整合节气科普知识、现场纪实影像与深度访谈实录，打造全天候的线上文化展馆，让知识与感动永久留存。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38354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500" y="4051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393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标准工具：可复用的实践宝典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将访谈提纲、宣讲课件、调研问卷及执行手册整理成标准化PDF资源包，为后续团队提供“拿来即用”的行动指南，降低实践门槛。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50673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5283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51689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破圈传播：年轻化的文化共鸣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在抖音、B站等平台发布纪实Vlog，总播放量突破1500+，以青年视角讲述节气故事，让传统文化在数字时代焕发新生。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效益分析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143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574128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我们带来了什么？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看得见的改变：量化成果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03C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数据是最好的证明。我们在宣讲前后对20位居民进行了问卷调查，结果令人振奋，直观展现了大家对二十四节气认知与认同的显著跃升。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4808" r="4808"/>
          <a:stretch>
            <a:fillRect/>
          </a:stretch>
        </p:blipFill>
        <p:spPr>
          <a:xfrm>
            <a:off x="762000" y="2413000"/>
            <a:ext cx="3048000" cy="171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252" r="6252"/>
          <a:stretch>
            <a:fillRect/>
          </a:stretch>
        </p:blipFill>
        <p:spPr>
          <a:xfrm>
            <a:off x="4064000" y="2413000"/>
            <a:ext cx="3048000" cy="171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4254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宣讲前：认知度较低，仅1人能完整区分节气内涵与习俗。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0" y="4254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宣讲后：认知度大幅跃升，17人掌握核心知识，占比达85%。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366000" y="2413000"/>
            <a:ext cx="4064000" cy="17145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556500" y="25654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认知水平的质变飞跃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440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从宣讲前的 </a:t>
            </a:r>
            <a:r>
              <a:rPr lang="en-US" sz="1400" b="1" i="0" u="none" strike="noStrike">
                <a:solidFill>
                  <a:srgbClr val="4440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1人</a:t>
            </a:r>
            <a:r>
              <a:rPr lang="en-US" sz="1400" b="0" i="0" u="none" strike="noStrike">
                <a:solidFill>
                  <a:srgbClr val="4440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到宣讲后的 </a:t>
            </a:r>
            <a:r>
              <a:rPr lang="en-US" sz="14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17人</a:t>
            </a:r>
            <a:r>
              <a:rPr lang="en-US" sz="1400" b="0" i="0" u="none" strike="noStrike">
                <a:solidFill>
                  <a:srgbClr val="4440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，实现了 </a:t>
            </a:r>
            <a:r>
              <a:rPr lang="en-US" sz="20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85%</a:t>
            </a:r>
            <a:r>
              <a:rPr lang="en-US" sz="1400" b="0" i="0" u="none" strike="noStrike">
                <a:solidFill>
                  <a:srgbClr val="4440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的参与者对节气文化有了深度认知，成效显著。</a:t>
            </a:r>
            <a:endParaRPr lang="en-US" sz="1400" b="0" i="0" u="none" strike="noStrike">
              <a:solidFill>
                <a:srgbClr val="4440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359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5334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85% 愿主动践行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753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愿意亲身参与立秋等节气民俗活动，让传统文化融入日常。</a:t>
            </a:r>
            <a:endParaRPr lang="en-US" sz="1300" b="0" i="0" u="none" strike="noStrike">
              <a:solidFill>
                <a:srgbClr val="57534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06900" y="5207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5359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78400" y="5334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86% 愿分享传播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753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主动向家人朋友介绍节气习俗，成为社区文化传播的纽带。</a:t>
            </a:r>
            <a:endParaRPr lang="en-US" sz="1300" b="0" i="0" u="none" strike="noStrike">
              <a:solidFill>
                <a:srgbClr val="57534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51800" y="5207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2300" y="5359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23300" y="5334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 愿持续关注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753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未来将主动留意节气与物候变化，感受自然节律之美。</a:t>
            </a:r>
            <a:endParaRPr lang="en-US" sz="1300" b="0" i="0" u="none" strike="noStrike">
              <a:solidFill>
                <a:srgbClr val="57534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感受得到的温暖：质性成果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青少年认知的重塑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从“老黄历”的刻板印象到理解节气背后的天文气象科学体系，帮助青少年完成了从感性记忆到理性认知的深度转变，建立起对传统文化的科学认同。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55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92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孩童好奇心的萌发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手工课上的自然探索让孩子们敏锐捕捉季节变化，眼中闪烁的求知光芒，点燃了探索自然奥秘的热情，在心中种下亲近自然、热爱传统的种子。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14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080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社区文化共同体的构建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搭建“青年科普+老人传俗”的双向传承桥梁，打破代际隔阂。老人用经验讲习俗，青年用科学释原理，让传统文化在交流中焕发生机，凝聚社区认同。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77000" y="2032000"/>
            <a:ext cx="5080000" cy="2806700"/>
          </a:xfrm>
          <a:prstGeom prst="rect">
            <a:avLst/>
          </a:prstGeom>
          <a:noFill/>
          <a:ln w="12700" cap="flat" cmpd="sng">
            <a:solidFill>
              <a:srgbClr val="A16207">
                <a:alpha val="10000"/>
              </a:srgbClr>
            </a:solidFill>
            <a:prstDash val="solid"/>
            <a:round/>
          </a:ln>
          <a:effectLst>
            <a:outerShdw blurRad="127000" dist="50800" dir="2700000" algn="tl">
              <a:srgbClr val="A16207">
                <a:alpha val="1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477000" y="5080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数据印证了温暖的回响：美育活动后，超80%的学员表示愿意主动践行民俗、向家人分享节气知识，并持续关注物候变化。这份发自内心的认同，是成果最生动的注脚。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社会反响：获得广泛认可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我们的节气文化科普项目不仅在社区落地生根，更通过校园媒体与线上平台辐射开来，收获了来自学院、网络平台与居民的多方赞誉，成为传统文化活化传播的生动实践。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721" r="721"/>
          <a:stretch>
            <a:fillRect/>
          </a:stretch>
        </p:blipFill>
        <p:spPr>
          <a:xfrm>
            <a:off x="762000" y="2540000"/>
            <a:ext cx="3556000" cy="2667000"/>
          </a:xfrm>
          <a:prstGeom prst="rect">
            <a:avLst/>
          </a:prstGeom>
          <a:noFill/>
          <a:ln w="25400" cap="flat" cmpd="sng">
            <a:solidFill>
              <a:srgbClr val="A16207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39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学院官网权威报道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作为校园实践典范发布，彰显项目教育价值与社会影响力，成为校园文化传播的标杆案例。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2540000"/>
            <a:ext cx="685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26000" y="29464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59" b="59"/>
          <a:stretch>
            <a:fillRect/>
          </a:stretch>
        </p:blipFill>
        <p:spPr>
          <a:xfrm>
            <a:off x="5969000" y="3035300"/>
            <a:ext cx="1524000" cy="72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747000" y="26670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线上破圈：超1500次播放量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在抖音、B站发布的纪实Vlog，以年轻化视角解读节气智慧，打破圈层壁垒，吸引了众多年轻群体关注，让传统文化在互联网上焕发新生。</a:t>
            </a:r>
            <a:endParaRPr lang="en-US" sz="13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4445000"/>
            <a:ext cx="685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49911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88000" y="4572000"/>
            <a:ext cx="571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社区回响：文化惠民的温情共鸣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社区工作人员与居民给予高度评价，认为活动不仅丰富了社区文化生活，更让大家近距离感受了节气文化的深厚底蕴，是一次兼具知识性与趣味性的暖心实践。</a:t>
            </a:r>
            <a:endParaRPr lang="en-US" sz="13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团队优势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400">
                <a:solidFill>
                  <a:srgbClr val="594027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我们是谁？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A16207">
                    <a:alpha val="5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凝心聚力 · 共筑华章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跨学科的专业组合：我们的“梦之队”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65" b="65"/>
          <a:stretch>
            <a:fillRect/>
          </a:stretch>
        </p:blipFill>
        <p:spPr>
          <a:xfrm>
            <a:off x="762000" y="1778000"/>
            <a:ext cx="4318000" cy="2425700"/>
          </a:xfrm>
          <a:prstGeom prst="rect">
            <a:avLst/>
          </a:prstGeom>
          <a:noFill/>
          <a:ln w="25400" cap="flat" cmpd="sng">
            <a:solidFill>
              <a:srgbClr val="A16207">
                <a:alpha val="40000"/>
              </a:srgbClr>
            </a:solidFill>
            <a:prstDash val="solid"/>
            <a:round/>
          </a:ln>
          <a:effectLst>
            <a:outerShdw blurRad="190500" dist="76200" dir="2700000" algn="tl">
              <a:srgbClr val="A16207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3C28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不同专业背景的碰撞，让我们拥有了更广阔的视野。在这里，知识不再是孤岛，而是汇聚成照亮科普之路的光束，让每一次探索都充满力量。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778000"/>
            <a:ext cx="6096000" cy="1714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32500" y="1968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智慧农业 · 科学担当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24500" y="2476500"/>
            <a:ext cx="558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深谙气象、物候与农业知识，是团队内容的“定盘星”。无论是解读立秋三候的物候特征，还是剖析“秋老虎”的气候成因，都能以专业视角确保科普内容的严谨性与科学性。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3746500"/>
            <a:ext cx="6096000" cy="1714500"/>
          </a:xfrm>
          <a:prstGeom prst="roundRect">
            <a:avLst>
              <a:gd name="adj" fmla="val 0"/>
            </a:avLst>
          </a:prstGeom>
          <a:solidFill>
            <a:srgbClr val="A16207">
              <a:alpha val="6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393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32500" y="393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信息管理 · 组织担当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24500" y="4445000"/>
            <a:ext cx="558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擅长调研策划、资料整理与物料统筹，是团队高效运转的“引擎”。从问卷设计到活动执行，每一步都经过精心安排，确保项目从构思到落地的顺畅与高效。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专业互补构筑核心优势，深耕内容深度，打磨实践精度，实现 1+1&gt;2 的团队效能。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认真负责的团队精神：我们的制胜法宝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2032000"/>
            <a:ext cx="4064000" cy="3048000"/>
          </a:xfrm>
          <a:prstGeom prst="rect">
            <a:avLst/>
          </a:prstGeom>
          <a:noFill/>
          <a:ln w="25400" cap="flat" cmpd="sng">
            <a:solidFill>
              <a:srgbClr val="A16207">
                <a:alpha val="20000"/>
              </a:srgbClr>
            </a:solidFill>
            <a:prstDash val="solid"/>
            <a:round/>
          </a:ln>
          <a:effectLst>
            <a:outerShdw blurRad="152400" dist="76200" dir="2700000" algn="tl">
              <a:srgbClr val="A16207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7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4632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团队在紫金山天文台合影，展现积极向上的精神风貌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2057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778500" y="2032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精心打磨每一个细节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2476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C3228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为确保内容通俗易懂，我们历经多次内部预演，反复推敲修改课件。从措辞到案例，每一个细节都力求完美，只为呈现最贴心、最优质的宣讲内容。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3581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78500" y="3556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全心投入每一次互动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34000" y="4000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C3228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走访中耐心倾听居民心声，课堂上用心引导孩子思考。我们不仅是在完成项目，更是在用心与社区每一个人真诚交流，让每一次互动都充满温度与关怀。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5105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778500" y="5080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团结协作的默契配合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5524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C3228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从策划到总结，五人同心如紧握的拳头。困难共同攻克，成果一起分享。这份默契与团结，不仅是我们高效执行的保障，更是团队不断前行的动力源泉。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指导老师的悉心指导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我们的成功离不开指导老师的悉心栽培，从项目蓝图的勾勒到细节的打磨，每一步成长都凝聚着老师的智慧与心血。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方向指引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策划之初，江老师为我们厘清思路、校准航向，帮助团队精准锚定项目的核心价值与长远目标，为项目的顺利启动奠定了坚实的思想基础。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79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3048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927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专业把关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48200" y="3619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内容筹备阶段，老师对科普课件进行了逐字逐句的严谨审核，严格把关知识的准确性与逻辑的严密性，确保输出内容兼具专业性与科普价值。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79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3048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249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过程支持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80400" y="3619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在实践推进的每一步，老师始终给予坚定的鼓励与及时的点拨，帮助我们克服筹备中的重重困难，用经验与智慧为项目的顺利落地保驾护航。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A16207">
              <a:alpha val="5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524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“师恩难忘，匠心传承” —— 在此，向江晓东老师致以最诚挚的谢意与崇高的敬意！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A16207">
                    <a:alpha val="1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发展愿景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4137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我们将走向何方？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反思与不足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在总结成果的同时，我们也清醒地认识到项目推进过程中存在的短板与挑战。正视这些问题，是我们未来优化升级、持续进步的起点。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覆盖范围有限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活动主要集中在单一社区落地，辐射半径较窄，受益人群覆盖面仍有局限。未能充分触达更广泛的市民群体，影响力的广度有待进一步拓展。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667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85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292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内容深度待加强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33655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虽挖掘了本土民俗脉络，但对南京不同片区的地域习俗差异剖析不够深入，存在“以通用民俗替代在地特色”的同质化风险，文化挖掘仍有留白。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667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A16207">
              <a:alpha val="8000"/>
            </a:srgbClr>
          </a:solidFill>
          <a:ln w="12700" cap="flat" cmpd="sng">
            <a:solidFill>
              <a:srgbClr val="A1620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2857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614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长效机制需构建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16900" y="33655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本次活动为短期阶段性实践，缺乏常态化的运营体系与持续传播机制。如何让节气科普从“一次性活动”转为“持续性文化工程”，是后续需破解的关键。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“正视问题是进步的起点，这些不足将成为我们优化迭代的方向与动力。”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未来的规划与展望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03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针对项目发展中的挑战，我们从协同机制、资源建设与传播渠道三个维度，提出系统性的规划与展望，旨在让二十四节气文化的传承更具生命力与影响力，让传统智慧真正融入现代生活的肌理。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A1620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2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94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协同共建生态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构建“高校-社区-居民”三位一体联动：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组建高校节气科普志愿服务队，将美育课程纳入社区托管体系；邀请社区“民俗专家”走进课堂，打造常态化、本土化的文化传承共同体。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667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A1620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92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294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打造精品工具包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482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完善可复用的科普资源矩阵：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迭代升级节气科普资源包，融入互动式体验设计与数字化学习素材；建立共享资源库，让传统文化传播更具趣味性、实用性与可复制性。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667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A1620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92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294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1620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全域传播矩阵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804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构建“线上+线下”双线融合：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线下落地社区“节气科普角”，打造沉浸式文化体验空间；线上深耕新媒体阵地，持续输出高质量、年轻化的科普内容，实现文化传播的全域覆盖。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A16207">
                    <a:alpha val="7490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“以匠心守初心，让二十四节气文化在新时代绽放新光彩，让传统智慧融入日常，生生不息。”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逐光而行 未来可期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5524500"/>
            <a:ext cx="2032000" cy="38100"/>
          </a:xfrm>
          <a:prstGeom prst="roundRect">
            <a:avLst>
              <a:gd name="adj" fmla="val 0"/>
            </a:avLst>
          </a:prstGeom>
          <a:solidFill>
            <a:srgbClr val="A16207">
              <a:alpha val="100000"/>
            </a:srgbClr>
          </a:solidFill>
          <a:ln cap="flat" cmpd="sng">
            <a:solidFill>
              <a:srgbClr val="8850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77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FFFFFF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传承中华文脉 · 共赴美好未来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6432</Words>
  <Application>WPS 演示</Application>
  <PresentationFormat/>
  <Paragraphs>404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华夫饼的海滩</cp:lastModifiedBy>
  <cp:revision>1</cp:revision>
  <dcterms:created xsi:type="dcterms:W3CDTF">2026-09-14T13:40:13Z</dcterms:created>
  <dcterms:modified xsi:type="dcterms:W3CDTF">2026-09-14T13:40:13Z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{"Label":"1","ContentProducer":"001191110102MACQD9K64010000","ProduceID":"7685373980946468099","ReservedCode1":"","ContentPropagator":"","PropagateID":"","ReservedCode2":""}</vt:lpwstr>
  </property>
  <property fmtid="{D5CDD505-2E9C-101B-9397-08002B2CF9AE}" pid="3" name="ICV">
    <vt:lpwstr>C916554BAC584698A870A5B6DEDC750D_12</vt:lpwstr>
  </property>
  <property fmtid="{D5CDD505-2E9C-101B-9397-08002B2CF9AE}" pid="4" name="KSOProductBuildVer">
    <vt:lpwstr>2052-12.1.0.28505</vt:lpwstr>
  </property>
</Properties>
</file>