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【0:00–0:15｜开场】</a:t>
            </a:r>
          </a:p>
          <a:p>
            <a:r>
              <a:t>各位老师好，我是南京信息工程大学逐光下乡实践团的陆旭。</a:t>
            </a:r>
          </a:p>
          <a:p>
            <a:r>
              <a:t>我们团队 5 个人，在江晓东老师指导下，今年 8 月在南京市双塘街道玉带园社区做了 7 天二十四节气美育实践。</a:t>
            </a:r>
          </a:p>
          <a:p>
            <a:r>
              <a:t>接下来我按四件事汇报：我们做了什么、做出了什么、带来了什么，以及活动的反响。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【0:15–0:45｜概览】</a:t>
            </a:r>
          </a:p>
          <a:p>
            <a:r>
              <a:t>先说结论。7 天里我们做了三件事：去紫金山天文台溯源，去社区分层访谈 25 位居民，再把这些变成给暑托班孩子的一堂课。</a:t>
            </a:r>
          </a:p>
          <a:p>
            <a:r>
              <a:t>这堂课到场 20 人，超过预设的 15 人；访谈留存 10 份有效音视频、约 40 分钟；相关短视频在两个平台的累计播放超过 1500 次。</a:t>
            </a:r>
          </a:p>
          <a:p>
            <a:r>
              <a:t>后面四部分，我依次汇报：我们做了什么、做出了什么、带来了什么、反响如何。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【0:45–1:10｜为什么做】</a:t>
            </a:r>
          </a:p>
          <a:p>
            <a:r>
              <a:t>为什么还要再做一次？政策层面早已点名二十四节气，我们要回应的是社区里的真实落差。</a:t>
            </a:r>
          </a:p>
          <a:p>
            <a:r>
              <a:t>把 25 位访谈对象按年龄切开：长者记得住啃秋、晒秋、公秋母秋，但说不出科学原理；中青年只剩几个代表节气，知识来自短视频切片；孩子会背节气歌，但没摸过物候。</a:t>
            </a:r>
          </a:p>
          <a:p>
            <a:r>
              <a:t>所以我们的定位不是"再讲一遍节气歌"，而是把科学原理和本地民俗一起讲清楚。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【1:10–1:50｜我们做了什么】</a:t>
            </a:r>
          </a:p>
          <a:p>
            <a:r>
              <a:t>第一件事，去紫金山天文台溯源。我们看了节气特展，弄清圭表怎么测出两至两分、历代怎么改历，顺带在玄武湖做了立秋物候实测，验证了"节气不等于气象入秋"，最后整理成一份《不同时代二十四节气规划演变》。</a:t>
            </a:r>
          </a:p>
          <a:p>
            <a:r>
              <a:t>第二件事，进社区问俗。分层访谈 25 位居民，长者 15、中青年 6、儿童 4，留存 10 份音视频约 40 分钟，记下啃秋、盐水鸭凉补、公秋母秋这些只有本地人才说得出的东西。</a:t>
            </a:r>
          </a:p>
          <a:p>
            <a:r>
              <a:t>第三件事，给孩子们上课。暑托班开课到场 20 人，超过预设的 15 人，70 分钟里讲了物候、民俗，做了树叶剪贴和小游戏，并做了前后测。</a:t>
            </a:r>
          </a:p>
          <a:p>
            <a:r>
              <a:t>这三件事不是并列的：研学结论改课件，走访素材改话术。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【1:50–2:20｜我们做出了什么】</a:t>
            </a:r>
          </a:p>
          <a:p>
            <a:r>
              <a:t>这是我们这次的全部产出，八项。</a:t>
            </a:r>
          </a:p>
          <a:p>
            <a:r>
              <a:t>一个实践成果网站，八个板块、32 张实拍、2 段现场视频；一个成果归档页，把后面这些材料都收在一处；</a:t>
            </a:r>
          </a:p>
          <a:p>
            <a:r>
              <a:t>一套《二十四节气科普实践资源包》，10 页、9 类模板；三个课堂小游戏；六类文创物料；</a:t>
            </a:r>
          </a:p>
          <a:p>
            <a:r>
              <a:t>10 份访谈影像素材；一份 7528 字的项目质量报告加 30 页汇报 PPT；还有学院信息栏发的新闻稿。</a:t>
            </a:r>
          </a:p>
          <a:p>
            <a:r>
              <a:t>每一项都不是"做完就算"，而是可以打开、可以下载、可以交给下一届的东西。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【2:20–2:55｜带来了什么】</a:t>
            </a:r>
          </a:p>
          <a:p>
            <a:r>
              <a:t>最直接的是孩子的变化：同一批 20 名学员，宣讲前只有 1 个人能完整说出立秋的由来和三候，宣讲后是 17 人，85%。</a:t>
            </a:r>
          </a:p>
          <a:p>
            <a:r>
              <a:t>意愿上，85% 愿意主动践行立秋民俗，86% 愿意讲给家里人，80% 表示以后会关注物候变化。</a:t>
            </a:r>
          </a:p>
          <a:p>
            <a:r>
              <a:t>社区这边，老人把啃秋、公秋母秋这些老规矩讲给了我们，也进了网站；一位阿姨说"我们家年年啃秋，却从没想过为什么"，这就是民俗被接住的样子。</a:t>
            </a:r>
          </a:p>
          <a:p>
            <a:r>
              <a:t>对队员自己而言，一位同学在研学总结里写"以前只当它是口诀，如今才读懂它是贴合物候的科学时序"。</a:t>
            </a:r>
          </a:p>
          <a:p>
            <a:r>
              <a:t>顺带说一句，活动预设的量化指标都超额完成：访谈 25 人（≥20）、到场 20 人（≥15）、任务完成率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【2:55–3:15｜活动反响】</a:t>
            </a:r>
          </a:p>
          <a:p>
            <a:r>
              <a:t>反响主要是三块。</a:t>
            </a:r>
          </a:p>
          <a:p>
            <a:r>
              <a:t>一是学院层面：学院信息栏刊发了这次实践的新闻稿，标题是《生态与应用气象学院大学生志愿者开展暑期节气文化科普实践活动》。</a:t>
            </a:r>
          </a:p>
          <a:p>
            <a:r>
              <a:t>二是平台传播：我们在 B 站和抖音发布了纪实 Vlog 和访谈片段，累计播放 1500 多次，评论区里也有年轻人问节气的问题。</a:t>
            </a:r>
          </a:p>
          <a:p>
            <a:r>
              <a:t>三是社区反馈：居民愿意讲、也愿意被记录，社区对这次活动是肯定的。一位阿姨的原话是"原来是这么回事，我们家年年啃秋，却从没想过为什么"。</a:t>
            </a:r>
          </a:p>
          <a:p>
            <a:r>
              <a:t>另外，网站和今天新增的归档页长期在线，各位老师现在就可以打开核对。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【3:15–3:35｜网站（一）】</a:t>
            </a:r>
          </a:p>
          <a:p>
            <a:r>
              <a:t>这是我们最想重点说的一项成果。</a:t>
            </a:r>
          </a:p>
          <a:p>
            <a:r>
              <a:t>宣讲结束那天我们发现，照片在群里、报告在硬盘里，这些只能算"记录"，不算"成果"：别人看不到，下一届也接不上。</a:t>
            </a:r>
          </a:p>
          <a:p>
            <a:r>
              <a:t>所以我们把这些材料做成了一个网站，放在 GitHub Pages 上：活动只有一周，网站长期在线；照片不再沉在群里，一个链接就能看；25 份访谈里的本地民俗也被完整记录下来。</a:t>
            </a:r>
          </a:p>
          <a:p>
            <a:r>
              <a:t>它解决的第一个问题是"成果散、留不住"——研学、走访、课堂三类材料落在同一条叙事线上，而不是三个文件夹。</a:t>
            </a:r>
          </a:p>
          <a:p>
            <a:r>
              <a:t>这是 5 个人分工做出来的，我是内容结构，另外四位同学负责素材整理、影像拍摄与剪辑发布。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【3:35–4:10｜网站（二）】</a:t>
            </a:r>
          </a:p>
          <a:p>
            <a:r>
              <a:t>网站不是把照片堆成一页，而是按认知顺序排成八个板块：从"节气到底是什么"讲起，然后回答"从何而来"，再往下是气象物候、四时民俗、"与今天"的关系，最后落到"在地实证"和"你能带走什么"。</a:t>
            </a:r>
          </a:p>
          <a:p>
            <a:r>
              <a:t>电脑和手机都能正常打开，网址就是屏幕上这个按钮，各位老师现在点一下就能看到。</a:t>
            </a:r>
          </a:p>
          <a:p>
            <a:r>
              <a:t>网站里还挂了一个成果归档页 archive.html，把资源包、项目报告、答辩材料和三个课堂小游戏都收在一页，一页就能取齐。</a:t>
            </a:r>
          </a:p>
          <a:p>
            <a:r>
              <a:t>另外，网站的源码以 MIT 协议开源，代码和资料都留在网上，下一届同学可以在原有基础上继续维护，不用从零再来。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【4:10–4:35｜不足与改进】</a:t>
            </a:r>
          </a:p>
          <a:p>
            <a:r>
              <a:t>也说我们的不足。</a:t>
            </a:r>
          </a:p>
          <a:p>
            <a:r>
              <a:t>第一，覆盖面窄，只覆盖了一个社区的暑托班；第二，在地性还要加强，初期我们确实把通用民俗套用到了南京；第三，长效机制还没建起来，活动结束就散场。</a:t>
            </a:r>
          </a:p>
          <a:p>
            <a:r>
              <a:t>对应的改进：和学院志愿队、周边社区共建，形成可轮换的课表；建立南京在地民俗库；把课纳入社区常态化托管与课后服务。</a:t>
            </a:r>
          </a:p>
          <a:p>
            <a:r>
              <a:t>我们还想继续做三件事：课程常态化、民俗资源库持续收录、网站继续迭代（增加居民留言互动与线上学习内容）。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【4:35–4:50｜收尾】</a:t>
            </a:r>
          </a:p>
          <a:p>
            <a:r>
              <a:t>七天的实践已经收尾，但成果留下来了：一个长期在线的网站、一个把所有材料收在一处的归档页、一套可交接的资源包。</a:t>
            </a:r>
          </a:p>
          <a:p>
            <a:r>
              <a:t>我们最想证明的不是"这件事我们做完了"，而是"这件事能被接着做下去"。</a:t>
            </a:r>
          </a:p>
          <a:p>
            <a:r>
              <a:t>我的汇报到这里，请各位老师批评指正，谢谢！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xulu-debug.github.io/jieqi-site/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xulu-debug.github.io/jieqi-site/" TargetMode="External"/><Relationship Id="rId4" Type="http://schemas.openxmlformats.org/officeDocument/2006/relationships/image" Target="../media/image5.png"/><Relationship Id="rId5" Type="http://schemas.openxmlformats.org/officeDocument/2006/relationships/hyperlink" Target="https://xulu-debug.github.io/jieqi-site/archive.html" TargetMode="External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hyperlink" Target="https://xulu-debug.github.io/jieqi-site/" TargetMode="Externa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E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bg.png"/>
          <p:cNvPicPr>
            <a:picLocks noChangeAspect="1"/>
          </p:cNvPicPr>
          <p:nvPr/>
        </p:nvPicPr>
        <p:blipFill>
          <a:blip r:embed="rId2"/>
          <a:srcRect t="7817" b="7817"/>
          <a:stretch>
            <a:fillRect/>
          </a:stretch>
        </p:blipFill>
        <p:spPr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B2E28">
              <a:alpha val="7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2000" y="1044000"/>
            <a:ext cx="1008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spc="80">
                <a:solidFill>
                  <a:srgbClr val="8FB3A6"/>
                </a:solidFill>
                <a:latin typeface="微软雅黑"/>
                <a:ea typeface="微软雅黑"/>
                <a:cs typeface="微软雅黑"/>
              </a:rPr>
              <a:t>南京信息工程大学 · 生态与应用气象学院 · 逐光下乡实践团</a:t>
            </a:r>
          </a:p>
        </p:txBody>
      </p:sp>
      <p:sp>
        <p:nvSpPr>
          <p:cNvPr id="5" name="Rectangle 4"/>
          <p:cNvSpPr/>
          <p:nvPr/>
        </p:nvSpPr>
        <p:spPr>
          <a:xfrm>
            <a:off x="972000" y="1422000"/>
            <a:ext cx="2015999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4000" y="1602000"/>
            <a:ext cx="10440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4700" b="1" i="0" spc="150">
                <a:solidFill>
                  <a:srgbClr val="FFFFFF"/>
                </a:solidFill>
                <a:latin typeface="华文中宋"/>
                <a:ea typeface="华文中宋"/>
                <a:cs typeface="华文中宋"/>
              </a:rPr>
              <a:t>循节气文脉，探天文农智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2000" y="2646000"/>
            <a:ext cx="1008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二十四节气社区美育实践　｜　实践成果汇报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000" y="3294000"/>
            <a:ext cx="9360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CF1ED"/>
                </a:solidFill>
                <a:latin typeface="微软雅黑"/>
                <a:ea typeface="微软雅黑"/>
                <a:cs typeface="微软雅黑"/>
              </a:rPr>
              <a:t>做了什么 · 做出了什么 · 带来了什么 · 反响如何</a:t>
            </a:r>
          </a:p>
        </p:txBody>
      </p:sp>
      <p:sp>
        <p:nvSpPr>
          <p:cNvPr id="9" name="Rectangle 8"/>
          <p:cNvSpPr/>
          <p:nvPr/>
        </p:nvSpPr>
        <p:spPr>
          <a:xfrm>
            <a:off x="972000" y="5238000"/>
            <a:ext cx="4320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2000" y="5418000"/>
            <a:ext cx="72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汇报人：陆　旭　｜　指导教师：江晓东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2000" y="5742000"/>
            <a:ext cx="72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D5CB"/>
                </a:solidFill>
                <a:latin typeface="微软雅黑"/>
                <a:ea typeface="微软雅黑"/>
                <a:cs typeface="微软雅黑"/>
              </a:rPr>
              <a:t>2026 年 9 月　·　南京市双塘街道玉带园社区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6000" y="5760000"/>
            <a:ext cx="48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C6D5CB"/>
                </a:solidFill>
                <a:latin typeface="Arial"/>
                <a:ea typeface="Arial"/>
                <a:cs typeface="Arial"/>
              </a:rPr>
              <a:t>成果网站 ↗　xulu-debug.github.io/jieqi-site</a:t>
            </a:r>
          </a:p>
        </p:txBody>
      </p:sp>
      <p:sp>
        <p:nvSpPr>
          <p:cNvPr id="13" name="Rectangle 12">
            <a:hlinkClick r:id="rId3"/>
          </p:cNvPr>
          <p:cNvSpPr/>
          <p:nvPr/>
        </p:nvSpPr>
        <p:spPr>
          <a:xfrm>
            <a:off x="6696000" y="5706000"/>
            <a:ext cx="4860000" cy="39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4000" y="378000"/>
            <a:ext cx="1080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20">
                <a:solidFill>
                  <a:srgbClr val="C8A24A"/>
                </a:solidFill>
                <a:latin typeface="Arial"/>
                <a:ea typeface="Arial"/>
                <a:cs typeface="Arial"/>
              </a:rPr>
              <a:t>01</a:t>
            </a:r>
            <a:r>
              <a:rPr sz="1300" b="0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　　</a:t>
            </a:r>
            <a:r>
              <a:rPr sz="1250" b="1" i="0" spc="6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一句话概览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000" y="630000"/>
            <a:ext cx="10836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E28"/>
                </a:solidFill>
                <a:latin typeface="华文中宋"/>
                <a:ea typeface="华文中宋"/>
                <a:cs typeface="华文中宋"/>
              </a:rPr>
              <a:t>一页看懂：做了什么，留下什么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684000" y="1303200"/>
            <a:ext cx="936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4000" y="1422000"/>
            <a:ext cx="10620000" cy="41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7 天、5 名队员、1 个社区：走完「场馆研学—社区走访—公益宣讲」三步，也留下了能交给下一届的成果。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4000" y="1980000"/>
            <a:ext cx="2358000" cy="162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4000" y="2203200"/>
            <a:ext cx="1818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7</a:t>
            </a:r>
            <a:r>
              <a:rPr sz="1300" b="0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 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799" y="2898000"/>
            <a:ext cx="1800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实践周期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799" y="3168000"/>
            <a:ext cx="180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8.7—8.13，任务完成率 100%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86000" y="1980000"/>
            <a:ext cx="2358000" cy="162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000" y="2203200"/>
            <a:ext cx="1818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25</a:t>
            </a:r>
            <a:r>
              <a:rPr sz="1300" b="0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 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6799" y="2898000"/>
            <a:ext cx="1800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社区分层访谈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6799" y="3168000"/>
            <a:ext cx="180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老年 15 · 中青年 6 · 儿童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8000" y="1980000"/>
            <a:ext cx="2358000" cy="162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58000" y="2203200"/>
            <a:ext cx="1818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20</a:t>
            </a:r>
            <a:r>
              <a:rPr sz="1300" b="0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 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8800" y="2898000"/>
            <a:ext cx="1800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美育课堂到场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800" y="3168000"/>
            <a:ext cx="180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预设 15 人，超额 33%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0000" y="1980000"/>
            <a:ext cx="2358000" cy="162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60000" y="2203200"/>
            <a:ext cx="1818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1500</a:t>
            </a:r>
            <a:r>
              <a:rPr sz="1300" b="0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 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0800" y="2898000"/>
            <a:ext cx="1800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短视频播放量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0800" y="3168000"/>
            <a:ext cx="180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B 站 · 抖音双平台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4000" y="3834000"/>
            <a:ext cx="104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三步走的实践链条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4000" y="4121999"/>
            <a:ext cx="3366000" cy="9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5999" y="4284000"/>
            <a:ext cx="2880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① </a:t>
            </a:r>
            <a:r>
              <a:rPr sz="14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场馆研学 · 溯源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紫金山天文台二十四节气特展</a:t>
            </a:r>
          </a:p>
        </p:txBody>
      </p:sp>
      <p:sp>
        <p:nvSpPr>
          <p:cNvPr id="25" name="Isosceles Triangle 24"/>
          <p:cNvSpPr/>
          <p:nvPr/>
        </p:nvSpPr>
        <p:spPr>
          <a:xfrm rot="5400000">
            <a:off x="4147200" y="4428000"/>
            <a:ext cx="270000" cy="216000"/>
          </a:xfrm>
          <a:prstGeom prst="triangle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482000" y="4121999"/>
            <a:ext cx="3366000" cy="9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34000" y="4284000"/>
            <a:ext cx="2880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② </a:t>
            </a:r>
            <a:r>
              <a:rPr sz="14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社区走访 · 问俗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玉带园社区分层随机访谈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7945200" y="4428000"/>
            <a:ext cx="270000" cy="216000"/>
          </a:xfrm>
          <a:prstGeom prst="triangle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80000" y="4121999"/>
            <a:ext cx="3366000" cy="9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32000" y="4284000"/>
            <a:ext cx="2880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③ </a:t>
            </a:r>
            <a:r>
              <a:rPr sz="14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公益宣讲 · 传薪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暑托班节气美育课堂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4000" y="5256000"/>
            <a:ext cx="104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接下来的四分钟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4000" y="5544000"/>
            <a:ext cx="2574000" cy="360000"/>
          </a:xfrm>
          <a:prstGeom prst="roundRect">
            <a:avLst>
              <a:gd name="adj" fmla="val 50000"/>
            </a:avLst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①　我们做了什么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4000" y="5544000"/>
            <a:ext cx="2574000" cy="360000"/>
          </a:xfrm>
          <a:prstGeom prst="roundRect">
            <a:avLst>
              <a:gd name="adj" fmla="val 50000"/>
            </a:avLst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②　做出了什么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83999" y="5544000"/>
            <a:ext cx="2574000" cy="360000"/>
          </a:xfrm>
          <a:prstGeom prst="roundRect">
            <a:avLst>
              <a:gd name="adj" fmla="val 50000"/>
            </a:avLst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③　带来了什么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784000" y="5544000"/>
            <a:ext cx="2574000" cy="360000"/>
          </a:xfrm>
          <a:prstGeom prst="roundRect">
            <a:avLst>
              <a:gd name="adj" fmla="val 50000"/>
            </a:avLst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④　活动反响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4000" y="6426000"/>
            <a:ext cx="79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循节气文脉，探天文农智　|　南京信息工程大学 逐光下乡实践团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2000" y="6426000"/>
            <a:ext cx="1007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Arial"/>
                <a:ea typeface="Arial"/>
                <a:cs typeface="Arial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4000" y="378000"/>
            <a:ext cx="1080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20">
                <a:solidFill>
                  <a:srgbClr val="C8A24A"/>
                </a:solidFill>
                <a:latin typeface="Arial"/>
                <a:ea typeface="Arial"/>
                <a:cs typeface="Arial"/>
              </a:rPr>
              <a:t>02</a:t>
            </a:r>
            <a:r>
              <a:rPr sz="1300" b="0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　　</a:t>
            </a:r>
            <a:r>
              <a:rPr sz="1250" b="1" i="0" spc="6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为什么做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000" y="630000"/>
            <a:ext cx="10836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E28"/>
                </a:solidFill>
                <a:latin typeface="华文中宋"/>
                <a:ea typeface="华文中宋"/>
                <a:cs typeface="华文中宋"/>
              </a:rPr>
              <a:t>为什么还要在城市社区做一次节气科普</a:t>
            </a:r>
          </a:p>
        </p:txBody>
      </p:sp>
      <p:sp>
        <p:nvSpPr>
          <p:cNvPr id="4" name="Rectangle 3"/>
          <p:cNvSpPr/>
          <p:nvPr/>
        </p:nvSpPr>
        <p:spPr>
          <a:xfrm>
            <a:off x="684000" y="1303200"/>
            <a:ext cx="936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4000" y="1422000"/>
            <a:ext cx="633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政策层面早有号召；落到社区，我们看到的是同一条节气在四代人身上留下的不同认知。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4000" y="2070000"/>
            <a:ext cx="6336000" cy="99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4000" y="2070000"/>
            <a:ext cx="57600" cy="990000"/>
          </a:xfrm>
          <a:prstGeom prst="rect">
            <a:avLst/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7999" y="2250000"/>
            <a:ext cx="16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长者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15 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8000" y="2257200"/>
            <a:ext cx="4176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记得住啃秋、晒秋、公秋母秋，
但说不出科学原理，也缺表达平台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4000" y="3168000"/>
            <a:ext cx="6336000" cy="99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4000" y="3168000"/>
            <a:ext cx="57600" cy="990000"/>
          </a:xfrm>
          <a:prstGeom prst="rect">
            <a:avLst/>
          </a:prstGeom>
          <a:solidFill>
            <a:srgbClr val="3E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7999" y="3348000"/>
            <a:ext cx="16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中青年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1" i="0">
                <a:solidFill>
                  <a:srgbClr val="3E7A6B"/>
                </a:solidFill>
                <a:latin typeface="Arial"/>
                <a:ea typeface="Arial"/>
                <a:cs typeface="Arial"/>
              </a:rPr>
              <a:t>6 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8000" y="3355200"/>
            <a:ext cx="4176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只剩几个代表节气，知识来自
碎片化短视频，缺完整框架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4000" y="4266000"/>
            <a:ext cx="6336000" cy="99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4000" y="4266000"/>
            <a:ext cx="57600" cy="990000"/>
          </a:xfrm>
          <a:prstGeom prst="rect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999" y="4446000"/>
            <a:ext cx="16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青少年 / 儿童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1" i="0">
                <a:solidFill>
                  <a:srgbClr val="8FB3A6"/>
                </a:solidFill>
                <a:latin typeface="Arial"/>
                <a:ea typeface="Arial"/>
                <a:cs typeface="Arial"/>
              </a:rPr>
              <a:t>10 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8000" y="4453200"/>
            <a:ext cx="4176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会背节气歌，停在文字记忆，
没摸过物候、没体验过民俗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4000" y="5526000"/>
            <a:ext cx="6408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→ 我们要补的不是知识量，而是把科学原理和本地民俗一起讲清楚的那条线。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16000" y="2070000"/>
            <a:ext cx="4104000" cy="3276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68000" y="2214000"/>
            <a:ext cx="36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4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我们的访谈样本分布</a:t>
            </a:r>
          </a:p>
        </p:txBody>
      </p:sp>
      <p:pic>
        <p:nvPicPr>
          <p:cNvPr id="21" name="Picture 20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5317" y="2502000"/>
            <a:ext cx="3525365" cy="2628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668000" y="5166000"/>
            <a:ext cx="363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共 25 位居民，分层随机抽样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4000" y="6426000"/>
            <a:ext cx="79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循节气文脉，探天文农智　|　南京信息工程大学 逐光下乡实践团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2000" y="6426000"/>
            <a:ext cx="1007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Arial"/>
                <a:ea typeface="Arial"/>
                <a:cs typeface="Arial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4000" y="378000"/>
            <a:ext cx="1080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20">
                <a:solidFill>
                  <a:srgbClr val="C8A24A"/>
                </a:solidFill>
                <a:latin typeface="Arial"/>
                <a:ea typeface="Arial"/>
                <a:cs typeface="Arial"/>
              </a:rPr>
              <a:t>03</a:t>
            </a:r>
            <a:r>
              <a:rPr sz="1300" b="0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　　</a:t>
            </a:r>
            <a:r>
              <a:rPr sz="1250" b="1" i="0" spc="6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我们做了什么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000" y="630000"/>
            <a:ext cx="10836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E28"/>
                </a:solidFill>
                <a:latin typeface="华文中宋"/>
                <a:ea typeface="华文中宋"/>
                <a:cs typeface="华文中宋"/>
              </a:rPr>
              <a:t>三项工作，串成一条完整的实践链</a:t>
            </a:r>
          </a:p>
        </p:txBody>
      </p:sp>
      <p:sp>
        <p:nvSpPr>
          <p:cNvPr id="4" name="Rectangle 3"/>
          <p:cNvSpPr/>
          <p:nvPr/>
        </p:nvSpPr>
        <p:spPr>
          <a:xfrm>
            <a:off x="684000" y="1303200"/>
            <a:ext cx="936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4000" y="1422000"/>
            <a:ext cx="1065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在指导教师江晓东的指导下，7 天完成三件事：去天文台溯源、进社区问俗、给孩子们上课。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4000" y="1745999"/>
            <a:ext cx="3366000" cy="2286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4000" y="1745999"/>
            <a:ext cx="3366000" cy="50400"/>
          </a:xfrm>
          <a:prstGeom prst="rect">
            <a:avLst/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4000" y="1872000"/>
            <a:ext cx="288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①　</a:t>
            </a:r>
            <a:r>
              <a:rPr sz="155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场馆研学</a:t>
            </a:r>
          </a:p>
          <a:p>
            <a:pPr algn="l">
              <a:lnSpc>
                <a:spcPct val="128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溯源“为什么”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799" y="2520000"/>
            <a:ext cx="2844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4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紫金山天文台节气特展：圭表、浑仪与历代改历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799" y="3078000"/>
            <a:ext cx="2844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4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玄武湖立秋物候实测，验证“节气≠气象入秋”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4799" y="3618000"/>
            <a:ext cx="2808000" cy="19800"/>
          </a:xfrm>
          <a:prstGeom prst="rect">
            <a:avLst/>
          </a:prstGeom>
          <a:solidFill>
            <a:srgbClr val="E2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4799" y="3715200"/>
            <a:ext cx="284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产出｜</a:t>
            </a:r>
            <a:r>
              <a:rPr sz="980" b="0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《不同时代二十四节气规划演变》梳理文档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4104000" y="2646000"/>
            <a:ext cx="259200" cy="216000"/>
          </a:xfrm>
          <a:prstGeom prst="triangle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13600" y="1745999"/>
            <a:ext cx="3366000" cy="2286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13600" y="1745999"/>
            <a:ext cx="3366000" cy="50400"/>
          </a:xfrm>
          <a:prstGeom prst="rect">
            <a:avLst/>
          </a:prstGeom>
          <a:solidFill>
            <a:srgbClr val="3E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3600" y="1872000"/>
            <a:ext cx="288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②　</a:t>
            </a:r>
            <a:r>
              <a:rPr sz="155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社区走访</a:t>
            </a:r>
          </a:p>
          <a:p>
            <a:pPr algn="l">
              <a:lnSpc>
                <a:spcPct val="128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1" i="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采集“本地怎么说”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4400" y="2520000"/>
            <a:ext cx="2844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4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分层访谈 25 位居民（长者 15 / 中青年 6 / 儿童 4）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4400" y="3078000"/>
            <a:ext cx="2844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4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留存 10 份音视频约 40 分钟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94400" y="3618000"/>
            <a:ext cx="2808000" cy="19800"/>
          </a:xfrm>
          <a:prstGeom prst="rect">
            <a:avLst/>
          </a:prstGeom>
          <a:solidFill>
            <a:srgbClr val="E2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4400" y="3715200"/>
            <a:ext cx="284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产出｜</a:t>
            </a:r>
            <a:r>
              <a:rPr sz="980" b="0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啃秋、盐水鸭、公秋母秋等本地口述素材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7833599" y="2646000"/>
            <a:ext cx="259200" cy="216000"/>
          </a:xfrm>
          <a:prstGeom prst="triangle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43199" y="1745999"/>
            <a:ext cx="3366000" cy="2286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43199" y="1745999"/>
            <a:ext cx="3366000" cy="504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3200" y="1872000"/>
            <a:ext cx="288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③　</a:t>
            </a:r>
            <a:r>
              <a:rPr sz="155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公益宣讲</a:t>
            </a:r>
          </a:p>
          <a:p>
            <a:pPr algn="l">
              <a:lnSpc>
                <a:spcPct val="128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讲成“他们的话”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4000" y="2520000"/>
            <a:ext cx="2844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4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暑托班开课，到场 20 人（预设 15）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4000" y="3078000"/>
            <a:ext cx="2844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4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树叶剪贴、节气歌、趣味问答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24000" y="3618000"/>
            <a:ext cx="2808000" cy="19800"/>
          </a:xfrm>
          <a:prstGeom prst="rect">
            <a:avLst/>
          </a:prstGeom>
          <a:solidFill>
            <a:srgbClr val="E2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24000" y="3715200"/>
            <a:ext cx="284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产出｜</a:t>
            </a:r>
            <a:r>
              <a:rPr sz="980" b="0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70 分钟完整课堂 + 前后测问卷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4000" y="4230000"/>
            <a:ext cx="106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5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7 天实施节奏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000" y="4770000"/>
            <a:ext cx="10296000" cy="19800"/>
          </a:xfrm>
          <a:prstGeom prst="rect">
            <a:avLst/>
          </a:prstGeom>
          <a:solidFill>
            <a:srgbClr val="D8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2800" y="4690800"/>
            <a:ext cx="158400" cy="158400"/>
          </a:xfrm>
          <a:prstGeom prst="ellipse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2000" y="4482000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8/7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2000" y="49140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启动会定方向</a:t>
            </a:r>
          </a:p>
        </p:txBody>
      </p:sp>
      <p:sp>
        <p:nvSpPr>
          <p:cNvPr id="34" name="Oval 33"/>
          <p:cNvSpPr/>
          <p:nvPr/>
        </p:nvSpPr>
        <p:spPr>
          <a:xfrm>
            <a:off x="2980800" y="4690800"/>
            <a:ext cx="158400" cy="158400"/>
          </a:xfrm>
          <a:prstGeom prst="ellipse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40000" y="4482000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8/8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40000" y="49140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物候观测 + 文创</a:t>
            </a:r>
          </a:p>
        </p:txBody>
      </p:sp>
      <p:sp>
        <p:nvSpPr>
          <p:cNvPr id="37" name="Oval 36"/>
          <p:cNvSpPr/>
          <p:nvPr/>
        </p:nvSpPr>
        <p:spPr>
          <a:xfrm>
            <a:off x="4888800" y="4690800"/>
            <a:ext cx="158400" cy="158400"/>
          </a:xfrm>
          <a:prstGeom prst="ellipse">
            <a:avLst/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48000" y="4482000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8/9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48000" y="49140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天文台研学</a:t>
            </a:r>
          </a:p>
        </p:txBody>
      </p:sp>
      <p:sp>
        <p:nvSpPr>
          <p:cNvPr id="40" name="Oval 39"/>
          <p:cNvSpPr/>
          <p:nvPr/>
        </p:nvSpPr>
        <p:spPr>
          <a:xfrm>
            <a:off x="6796800" y="4690800"/>
            <a:ext cx="158400" cy="158400"/>
          </a:xfrm>
          <a:prstGeom prst="ellipse">
            <a:avLst/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55999" y="4482000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8/11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55999" y="49140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社区分层访谈</a:t>
            </a:r>
          </a:p>
        </p:txBody>
      </p:sp>
      <p:sp>
        <p:nvSpPr>
          <p:cNvPr id="43" name="Oval 42"/>
          <p:cNvSpPr/>
          <p:nvPr/>
        </p:nvSpPr>
        <p:spPr>
          <a:xfrm>
            <a:off x="8704800" y="4690800"/>
            <a:ext cx="158400" cy="158400"/>
          </a:xfrm>
          <a:prstGeom prst="ellipse">
            <a:avLst/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63999" y="4482000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8/12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63999" y="49140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美育课堂宣讲</a:t>
            </a:r>
          </a:p>
        </p:txBody>
      </p:sp>
      <p:sp>
        <p:nvSpPr>
          <p:cNvPr id="46" name="Oval 45"/>
          <p:cNvSpPr/>
          <p:nvPr/>
        </p:nvSpPr>
        <p:spPr>
          <a:xfrm>
            <a:off x="10612800" y="4690800"/>
            <a:ext cx="158400" cy="158400"/>
          </a:xfrm>
          <a:prstGeom prst="ellipse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72000" y="4482000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8/13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72000" y="49140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数据复盘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4000" y="5382000"/>
            <a:ext cx="1062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研学结论改课件，走访素材改话术——三项工作互相喂养，不是三次各干一件事。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4000" y="6426000"/>
            <a:ext cx="79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循节气文脉，探天文农智　|　南京信息工程大学 逐光下乡实践团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2000" y="6426000"/>
            <a:ext cx="1007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Arial"/>
                <a:ea typeface="Arial"/>
                <a:cs typeface="Arial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4000" y="378000"/>
            <a:ext cx="1080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20">
                <a:solidFill>
                  <a:srgbClr val="C8A24A"/>
                </a:solidFill>
                <a:latin typeface="Arial"/>
                <a:ea typeface="Arial"/>
                <a:cs typeface="Arial"/>
              </a:rPr>
              <a:t>04</a:t>
            </a:r>
            <a:r>
              <a:rPr sz="1300" b="0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　　</a:t>
            </a:r>
            <a:r>
              <a:rPr sz="1250" b="1" i="0" spc="6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我们做出了什么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000" y="630000"/>
            <a:ext cx="10836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E28"/>
                </a:solidFill>
                <a:latin typeface="华文中宋"/>
                <a:ea typeface="华文中宋"/>
                <a:cs typeface="华文中宋"/>
              </a:rPr>
              <a:t>八项成果，每一项都能被查看、被使用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684000" y="1303200"/>
            <a:ext cx="936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4000" y="1422000"/>
            <a:ext cx="1065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除了把活动办成，我们把这些材料整理成了能查看、能下载、能交给下一届的东西。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4000" y="1854000"/>
            <a:ext cx="2592000" cy="18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4000" y="1854000"/>
            <a:ext cx="2592000" cy="43200"/>
          </a:xfrm>
          <a:prstGeom prst="rect">
            <a:avLst/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4000" y="1980000"/>
            <a:ext cx="7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000" y="2196000"/>
            <a:ext cx="226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实践成果网站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000" y="2520000"/>
            <a:ext cx="228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8 个板块讲清节气的来历、气象、民俗与本地调查，配 32 张实拍与 2 段现场视频。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000" y="3348000"/>
            <a:ext cx="226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扫码即开 · 电脑手机都可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7200" y="1854000"/>
            <a:ext cx="2592000" cy="18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7200" y="1854000"/>
            <a:ext cx="2592000" cy="43200"/>
          </a:xfrm>
          <a:prstGeom prst="rect">
            <a:avLst/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7200" y="1980000"/>
            <a:ext cx="7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7200" y="2196000"/>
            <a:ext cx="226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成果归档页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7200" y="2520000"/>
            <a:ext cx="228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把资源包、项目报告、答辩材料与三个小游戏收在一页，随时可取。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7200" y="3348000"/>
            <a:ext cx="226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archive.html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0400" y="1854000"/>
            <a:ext cx="2592000" cy="18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0400" y="1854000"/>
            <a:ext cx="2592000" cy="432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0400" y="1980000"/>
            <a:ext cx="7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8A24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400" y="2196000"/>
            <a:ext cx="226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科普实践资源包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400" y="2520000"/>
            <a:ext cx="228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分层访谈提纲、研学梳理、宣讲脚本、问卷与归档格式、应急预案、影像清单。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400" y="3348000"/>
            <a:ext cx="226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PDF 10 页 · 9 类模板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13600" y="1854000"/>
            <a:ext cx="2592000" cy="18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13600" y="1854000"/>
            <a:ext cx="2592000" cy="432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93600" y="1980000"/>
            <a:ext cx="7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8A24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3600" y="2196000"/>
            <a:ext cx="226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课堂互动小游戏 ×3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3600" y="2520000"/>
            <a:ext cx="228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节气连连看、节气快快排、看图猜节气，投屏即玩、无需联网。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3600" y="3348000"/>
            <a:ext cx="226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3 个 · 纯静态页面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4000" y="3816000"/>
            <a:ext cx="2592000" cy="18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4000" y="3816000"/>
            <a:ext cx="2592000" cy="43200"/>
          </a:xfrm>
          <a:prstGeom prst="rect">
            <a:avLst/>
          </a:prstGeom>
          <a:solidFill>
            <a:srgbClr val="3E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000" y="3942000"/>
            <a:ext cx="7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7A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000" y="4158000"/>
            <a:ext cx="226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二十四节气文创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000" y="4482000"/>
            <a:ext cx="228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书签、直尺、冰箱贴、钥匙扣（校徽面 / 节气面）与两张宣传海报。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000" y="5310000"/>
            <a:ext cx="226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6 类物料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27200" y="3816000"/>
            <a:ext cx="2592000" cy="18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7200" y="3816000"/>
            <a:ext cx="2592000" cy="43200"/>
          </a:xfrm>
          <a:prstGeom prst="rect">
            <a:avLst/>
          </a:prstGeom>
          <a:solidFill>
            <a:srgbClr val="3E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07200" y="3942000"/>
            <a:ext cx="7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7A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07200" y="4158000"/>
            <a:ext cx="226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影像与访谈素材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07200" y="4482000"/>
            <a:ext cx="228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研学、走访、课堂全程纪实，访谈音视频整理归档。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07200" y="5310000"/>
            <a:ext cx="226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10 份访谈 · 约 40 分钟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0400" y="3816000"/>
            <a:ext cx="2592000" cy="18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70400" y="3816000"/>
            <a:ext cx="2592000" cy="43200"/>
          </a:xfrm>
          <a:prstGeom prst="rect">
            <a:avLst/>
          </a:prstGeom>
          <a:solidFill>
            <a:srgbClr val="A6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0400" y="3942000"/>
            <a:ext cx="7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63A2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400" y="4158000"/>
            <a:ext cx="226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项目质量报告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0400" y="4482000"/>
            <a:ext cx="228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背景、实施、成效、亮点、问题与对策，含量化数据与图表。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400" y="5310000"/>
            <a:ext cx="226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7528 字 + 30 页汇报 PPT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13600" y="3816000"/>
            <a:ext cx="2592000" cy="18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13600" y="3816000"/>
            <a:ext cx="2592000" cy="43200"/>
          </a:xfrm>
          <a:prstGeom prst="rect">
            <a:avLst/>
          </a:prstGeom>
          <a:solidFill>
            <a:srgbClr val="A6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93600" y="3942000"/>
            <a:ext cx="7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63A2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3600" y="4158000"/>
            <a:ext cx="226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学院新闻稿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93600" y="4482000"/>
            <a:ext cx="2286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《生态与应用气象学院大学生志愿者开展暑期节气文化科普实践活动》。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93600" y="5310000"/>
            <a:ext cx="226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学院信息栏发布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4000" y="6426000"/>
            <a:ext cx="79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循节气文脉，探天文农智　|　南京信息工程大学 逐光下乡实践团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2000" y="6426000"/>
            <a:ext cx="1007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Arial"/>
                <a:ea typeface="Arial"/>
                <a:cs typeface="Arial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4000" y="378000"/>
            <a:ext cx="1080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20">
                <a:solidFill>
                  <a:srgbClr val="C8A24A"/>
                </a:solidFill>
                <a:latin typeface="Arial"/>
                <a:ea typeface="Arial"/>
                <a:cs typeface="Arial"/>
              </a:rPr>
              <a:t>05</a:t>
            </a:r>
            <a:r>
              <a:rPr sz="1300" b="0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　　</a:t>
            </a:r>
            <a:r>
              <a:rPr sz="1250" b="1" i="0" spc="6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带来了什么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000" y="630000"/>
            <a:ext cx="10836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E28"/>
                </a:solidFill>
                <a:latin typeface="华文中宋"/>
                <a:ea typeface="华文中宋"/>
                <a:cs typeface="华文中宋"/>
              </a:rPr>
              <a:t>孩子的认知、社区的记忆、队员的成长</a:t>
            </a:r>
          </a:p>
        </p:txBody>
      </p:sp>
      <p:sp>
        <p:nvSpPr>
          <p:cNvPr id="4" name="Rectangle 3"/>
          <p:cNvSpPr/>
          <p:nvPr/>
        </p:nvSpPr>
        <p:spPr>
          <a:xfrm>
            <a:off x="684000" y="1303200"/>
            <a:ext cx="936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4000" y="1422000"/>
            <a:ext cx="1065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同一批 20 名学员，宣讲前后各测一次；还有一些收获写不进问卷，但我们记了下来。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4000" y="1872000"/>
            <a:ext cx="5544000" cy="2628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4000" y="1998000"/>
            <a:ext cx="5004000" cy="41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A8A292"/>
                </a:solidFill>
                <a:latin typeface="Arial"/>
                <a:ea typeface="Arial"/>
                <a:cs typeface="Arial"/>
              </a:rPr>
              <a:t>1 人</a:t>
            </a:r>
            <a:r>
              <a:rPr sz="180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  →  </a:t>
            </a:r>
            <a:r>
              <a:rPr sz="21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17 人</a:t>
            </a:r>
            <a:r>
              <a:rPr sz="130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　掌握率提升至 85%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800" y="2430000"/>
            <a:ext cx="500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能完整说出立秋由来与三候的人数（同一批 20 名学员，宣讲前后各测一次）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08000" y="3941999"/>
            <a:ext cx="1224000" cy="198000"/>
          </a:xfrm>
          <a:prstGeom prst="roundRect">
            <a:avLst>
              <a:gd name="adj" fmla="val 5000"/>
            </a:avLst>
          </a:prstGeom>
          <a:solidFill>
            <a:srgbClr val="C9C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2000" y="3617999"/>
            <a:ext cx="1655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C9C2B0"/>
                </a:solidFill>
                <a:latin typeface="Arial"/>
                <a:ea typeface="Arial"/>
                <a:cs typeface="Arial"/>
              </a:rPr>
              <a:t>1 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2000" y="4230000"/>
            <a:ext cx="165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宣讲前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51999" y="3099600"/>
            <a:ext cx="1224000" cy="1040399"/>
          </a:xfrm>
          <a:prstGeom prst="roundRect">
            <a:avLst>
              <a:gd name="adj" fmla="val 5000"/>
            </a:avLst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6000" y="2775599"/>
            <a:ext cx="1655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17 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6000" y="4230000"/>
            <a:ext cx="165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宣讲后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96000" y="4158000"/>
            <a:ext cx="4392000" cy="19800"/>
          </a:xfrm>
          <a:prstGeom prst="rect">
            <a:avLst/>
          </a:prstGeom>
          <a:solidFill>
            <a:srgbClr val="D5CE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16000" y="1872000"/>
            <a:ext cx="5004000" cy="756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0000" y="2034000"/>
            <a:ext cx="1224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85</a:t>
            </a:r>
            <a:r>
              <a:rPr sz="1050" b="0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6000" y="2052000"/>
            <a:ext cx="320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愿意主动践行立秋民俗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6000" y="2322000"/>
            <a:ext cx="320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啃秋、贴秋膘、晒秋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16000" y="2736000"/>
            <a:ext cx="5004000" cy="756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50000" y="2897999"/>
            <a:ext cx="1224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86</a:t>
            </a:r>
            <a:r>
              <a:rPr sz="1050" b="0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6000" y="2916000"/>
            <a:ext cx="320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愿意向家人介绍节气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6000" y="3186000"/>
            <a:ext cx="320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带动全家一起过节气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16000" y="3600000"/>
            <a:ext cx="5004000" cy="756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50000" y="3761999"/>
            <a:ext cx="1224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80</a:t>
            </a:r>
            <a:r>
              <a:rPr sz="1050" b="0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6000" y="3780000"/>
            <a:ext cx="320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愿意持续关注物候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6000" y="4050000"/>
            <a:ext cx="320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自发记录身边的节气变化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16000" y="4428000"/>
            <a:ext cx="5004000" cy="576000"/>
          </a:xfrm>
          <a:prstGeom prst="roundRect">
            <a:avLst>
              <a:gd name="adj" fmla="val 4500"/>
            </a:avLst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0000" y="4518000"/>
            <a:ext cx="460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4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量化指标均超额完成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50000" y="4734000"/>
            <a:ext cx="464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访谈 25 ≥ 20　|　到场 20 ≥ 15　|　任务完成率 100%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4000" y="5022000"/>
            <a:ext cx="3366000" cy="936000"/>
          </a:xfrm>
          <a:prstGeom prst="roundRect">
            <a:avLst>
              <a:gd name="adj" fmla="val 4500"/>
            </a:avLst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7999" y="5130000"/>
            <a:ext cx="28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4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社区孩子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999" y="5346000"/>
            <a:ext cx="289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“荷叶开始变黄、蝉鸣变小，原来树叶和风都在告诉我们秋天来了。”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13600" y="5022000"/>
            <a:ext cx="3366000" cy="936000"/>
          </a:xfrm>
          <a:prstGeom prst="roundRect">
            <a:avLst>
              <a:gd name="adj" fmla="val 4500"/>
            </a:avLst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47600" y="5130000"/>
            <a:ext cx="28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4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社区长者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47600" y="5346000"/>
            <a:ext cx="289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“你们讲清了公秋母秋的道理，我们这些老规矩也算有人接住了。”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43199" y="5022000"/>
            <a:ext cx="3366000" cy="936000"/>
          </a:xfrm>
          <a:prstGeom prst="roundRect">
            <a:avLst>
              <a:gd name="adj" fmla="val 4500"/>
            </a:avLst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77199" y="5130000"/>
            <a:ext cx="28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4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队员复盘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77199" y="5346000"/>
            <a:ext cx="289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“以前只当它是古诗与口诀，如今才读懂它是贴合物候的科学时序。”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4000" y="6426000"/>
            <a:ext cx="79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循节气文脉，探天文农智　|　南京信息工程大学 逐光下乡实践团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2000" y="6426000"/>
            <a:ext cx="1007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Arial"/>
                <a:ea typeface="Arial"/>
                <a:cs typeface="Arial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4000" y="378000"/>
            <a:ext cx="1080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20">
                <a:solidFill>
                  <a:srgbClr val="C8A24A"/>
                </a:solidFill>
                <a:latin typeface="Arial"/>
                <a:ea typeface="Arial"/>
                <a:cs typeface="Arial"/>
              </a:rPr>
              <a:t>06</a:t>
            </a:r>
            <a:r>
              <a:rPr sz="1300" b="0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　　</a:t>
            </a:r>
            <a:r>
              <a:rPr sz="1250" b="1" i="0" spc="6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活动反响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000" y="630000"/>
            <a:ext cx="10836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E28"/>
                </a:solidFill>
                <a:latin typeface="华文中宋"/>
                <a:ea typeface="华文中宋"/>
                <a:cs typeface="华文中宋"/>
              </a:rPr>
              <a:t>学院报道、平台传播与社区反馈</a:t>
            </a:r>
          </a:p>
        </p:txBody>
      </p:sp>
      <p:sp>
        <p:nvSpPr>
          <p:cNvPr id="4" name="Rectangle 3"/>
          <p:cNvSpPr/>
          <p:nvPr/>
        </p:nvSpPr>
        <p:spPr>
          <a:xfrm>
            <a:off x="684000" y="1303200"/>
            <a:ext cx="936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4000" y="1422000"/>
            <a:ext cx="1065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活动结束不等于影响结束：三条渠道把这次实践留在了学院、留在了线上，也留在了社区。</a:t>
            </a:r>
          </a:p>
        </p:txBody>
      </p:sp>
      <p:pic>
        <p:nvPicPr>
          <p:cNvPr id="6" name="Picture 5" descr="image18.png"/>
          <p:cNvPicPr>
            <a:picLocks noChangeAspect="1"/>
          </p:cNvPicPr>
          <p:nvPr/>
        </p:nvPicPr>
        <p:blipFill>
          <a:blip r:embed="rId2"/>
          <a:srcRect t="14508" b="14508"/>
          <a:stretch>
            <a:fillRect/>
          </a:stretch>
        </p:blipFill>
        <p:spPr>
          <a:xfrm>
            <a:off x="684000" y="1908000"/>
            <a:ext cx="5832000" cy="306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4000" y="1908000"/>
            <a:ext cx="5832000" cy="3060000"/>
          </a:xfrm>
          <a:prstGeom prst="rect">
            <a:avLst/>
          </a:prstGeom>
          <a:noFill/>
          <a:ln w="12700">
            <a:solidFill>
              <a:srgbClr val="D8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4000" y="5022000"/>
            <a:ext cx="583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学院信息栏：《生态与应用气象学院大学生志愿者开展暑期节气文化科普实践活动》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3999" y="1908000"/>
            <a:ext cx="4716000" cy="864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03999" y="1908000"/>
            <a:ext cx="46800" cy="864000"/>
          </a:xfrm>
          <a:prstGeom prst="rect">
            <a:avLst/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02000" y="2015999"/>
            <a:ext cx="19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4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学院层面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2000" y="2232000"/>
            <a:ext cx="428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信息栏报道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02000" y="2538000"/>
            <a:ext cx="43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学院信息栏刊发实践新闻稿，作为暑期社会实践案例展示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03999" y="2844000"/>
            <a:ext cx="4716000" cy="864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03999" y="2844000"/>
            <a:ext cx="46800" cy="864000"/>
          </a:xfrm>
          <a:prstGeom prst="rect">
            <a:avLst/>
          </a:prstGeom>
          <a:solidFill>
            <a:srgbClr val="3E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2000" y="2952000"/>
            <a:ext cx="19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4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平台传播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2000" y="3168000"/>
            <a:ext cx="428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1500+ 次播放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2000" y="3474000"/>
            <a:ext cx="43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B 站、抖音双平台发布纪实 Vlog 与访谈片段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03999" y="3780000"/>
            <a:ext cx="4716000" cy="864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03999" y="3780000"/>
            <a:ext cx="46800" cy="8640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2000" y="3888000"/>
            <a:ext cx="19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4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社区反馈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2000" y="4104000"/>
            <a:ext cx="428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民俗被接住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2000" y="4410000"/>
            <a:ext cx="43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居民主动讲述本地习俗，社区对活动给予肯定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03999" y="4716000"/>
            <a:ext cx="4716000" cy="864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03999" y="4716000"/>
            <a:ext cx="46800" cy="864000"/>
          </a:xfrm>
          <a:prstGeom prst="rect">
            <a:avLst/>
          </a:prstGeom>
          <a:solidFill>
            <a:srgbClr val="A6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02000" y="4824000"/>
            <a:ext cx="19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4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线上可查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02000" y="5040000"/>
            <a:ext cx="428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长期在线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02000" y="5346000"/>
            <a:ext cx="43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网站与归档页随时可打开，评委可现场核对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03999" y="5670000"/>
            <a:ext cx="4716000" cy="720000"/>
          </a:xfrm>
          <a:prstGeom prst="roundRect">
            <a:avLst>
              <a:gd name="adj" fmla="val 4500"/>
            </a:avLst>
          </a:prstGeom>
          <a:solidFill>
            <a:srgbClr val="EF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02000" y="5760000"/>
            <a:ext cx="42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4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一句现场反馈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02000" y="5958000"/>
            <a:ext cx="4302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“原来立秋还有公秋母秋，我们家年年啃秋，却从没想过为什么。”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4000" y="6426000"/>
            <a:ext cx="79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循节气文脉，探天文农智　|　南京信息工程大学 逐光下乡实践团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2000" y="6426000"/>
            <a:ext cx="1007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Arial"/>
                <a:ea typeface="Arial"/>
                <a:cs typeface="Arial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4000" y="378000"/>
            <a:ext cx="1080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20">
                <a:solidFill>
                  <a:srgbClr val="C8A24A"/>
                </a:solidFill>
                <a:latin typeface="Arial"/>
                <a:ea typeface="Arial"/>
                <a:cs typeface="Arial"/>
              </a:rPr>
              <a:t>07</a:t>
            </a:r>
            <a:r>
              <a:rPr sz="1300" b="0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　　</a:t>
            </a:r>
            <a:r>
              <a:rPr sz="1250" b="1" i="0" spc="6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成果重点 · 实践网站（一）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000" y="630000"/>
            <a:ext cx="10836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E28"/>
                </a:solidFill>
                <a:latin typeface="华文中宋"/>
                <a:ea typeface="华文中宋"/>
                <a:cs typeface="华文中宋"/>
              </a:rPr>
              <a:t>先把成果留住：一次实践，一个随时能打开的入口</a:t>
            </a:r>
          </a:p>
        </p:txBody>
      </p:sp>
      <p:sp>
        <p:nvSpPr>
          <p:cNvPr id="4" name="Rectangle 3"/>
          <p:cNvSpPr/>
          <p:nvPr/>
        </p:nvSpPr>
        <p:spPr>
          <a:xfrm>
            <a:off x="684000" y="1303200"/>
            <a:ext cx="936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4000" y="1422000"/>
            <a:ext cx="1065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宣讲结束那天我们发现问题：照片躺在群里、报告锁在硬盘里——成果很散，也留不住。于是有了这个网站。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4000" y="1980000"/>
            <a:ext cx="6623999" cy="9179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6000" y="2275200"/>
            <a:ext cx="2232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活动只有一周</a:t>
            </a:r>
          </a:p>
        </p:txBody>
      </p:sp>
      <p:sp>
        <p:nvSpPr>
          <p:cNvPr id="8" name="Isosceles Triangle 7"/>
          <p:cNvSpPr/>
          <p:nvPr/>
        </p:nvSpPr>
        <p:spPr>
          <a:xfrm rot="5400000">
            <a:off x="3186000" y="2293200"/>
            <a:ext cx="306000" cy="251999"/>
          </a:xfrm>
          <a:prstGeom prst="triangle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4000" y="2260800"/>
            <a:ext cx="34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网站长期在线，随时能打开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4000" y="3006000"/>
            <a:ext cx="6623999" cy="9179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6000" y="3301200"/>
            <a:ext cx="2232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照片沉在聊天群</a:t>
            </a:r>
          </a:p>
        </p:txBody>
      </p:sp>
      <p:sp>
        <p:nvSpPr>
          <p:cNvPr id="12" name="Isosceles Triangle 11"/>
          <p:cNvSpPr/>
          <p:nvPr/>
        </p:nvSpPr>
        <p:spPr>
          <a:xfrm rot="5400000">
            <a:off x="3186000" y="3319199"/>
            <a:ext cx="306000" cy="251999"/>
          </a:xfrm>
          <a:prstGeom prst="triangle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4000" y="3286799"/>
            <a:ext cx="34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一个固定链接，扫码即看、不占手机空间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4000" y="4031999"/>
            <a:ext cx="6623999" cy="9179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6000" y="4327200"/>
            <a:ext cx="2232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口述只在小范围</a:t>
            </a:r>
          </a:p>
        </p:txBody>
      </p:sp>
      <p:sp>
        <p:nvSpPr>
          <p:cNvPr id="16" name="Isosceles Triangle 15"/>
          <p:cNvSpPr/>
          <p:nvPr/>
        </p:nvSpPr>
        <p:spPr>
          <a:xfrm rot="5400000">
            <a:off x="3186000" y="4345199"/>
            <a:ext cx="306000" cy="251999"/>
          </a:xfrm>
          <a:prstGeom prst="triangle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4000" y="4312799"/>
            <a:ext cx="34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25 份访谈里的本地民俗被完整记录并公开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60000" y="1980000"/>
            <a:ext cx="3960000" cy="2664000"/>
          </a:xfrm>
          <a:prstGeom prst="roundRect">
            <a:avLst>
              <a:gd name="adj" fmla="val 4500"/>
            </a:avLst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83999" y="2250000"/>
            <a:ext cx="3348000" cy="21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网站解决的第一个问题：
</a:t>
            </a:r>
            <a:r>
              <a:rPr sz="1450" b="0" i="0">
                <a:solidFill>
                  <a:srgbClr val="D9E4DD"/>
                </a:solidFill>
                <a:latin typeface="微软雅黑"/>
                <a:ea typeface="微软雅黑"/>
                <a:cs typeface="微软雅黑"/>
              </a:rPr>
              <a:t>把研学、走访、课堂三类材料，
放在同一条叙事线上，
而不是三个文件夹里。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83999" y="3798000"/>
            <a:ext cx="2160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83999" y="3960000"/>
            <a:ext cx="33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B3A6"/>
                </a:solidFill>
                <a:latin typeface="微软雅黑"/>
                <a:ea typeface="微软雅黑"/>
                <a:cs typeface="微软雅黑"/>
              </a:rPr>
              <a:t>托管在 GitHub Pages，纯静态页面，维护成本很低，也不会因为服务器到期而失效。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4000" y="5238000"/>
            <a:ext cx="6623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5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5 个人分工完成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4000" y="5490000"/>
            <a:ext cx="1584000" cy="63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4000" y="5490000"/>
            <a:ext cx="1548000" cy="19800"/>
          </a:xfrm>
          <a:prstGeom prst="rect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4000" y="5598000"/>
            <a:ext cx="1565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陆旭 · 内容结构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4000" y="5832000"/>
            <a:ext cx="156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8 个板块的叙事线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58000" y="5490000"/>
            <a:ext cx="1584000" cy="63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358000" y="5490000"/>
            <a:ext cx="1548000" cy="19800"/>
          </a:xfrm>
          <a:prstGeom prst="rect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58000" y="5598000"/>
            <a:ext cx="1565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钟孝宇 · 素材整理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8000" y="5832000"/>
            <a:ext cx="156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32 图 2 视频归档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32000" y="5490000"/>
            <a:ext cx="1584000" cy="63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32000" y="5490000"/>
            <a:ext cx="1548000" cy="19800"/>
          </a:xfrm>
          <a:prstGeom prst="rect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32000" y="5598000"/>
            <a:ext cx="1565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张尔凡 · 影像拍摄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2000" y="5832000"/>
            <a:ext cx="156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研学与课堂纪实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06000" y="5490000"/>
            <a:ext cx="1584000" cy="63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06000" y="5490000"/>
            <a:ext cx="1548000" cy="19800"/>
          </a:xfrm>
          <a:prstGeom prst="rect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06000" y="5598000"/>
            <a:ext cx="1565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孟夏杰 · 剪辑上传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06000" y="5832000"/>
            <a:ext cx="1565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双平台发布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4000" y="6426000"/>
            <a:ext cx="79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循节气文脉，探天文农智　|　南京信息工程大学 逐光下乡实践团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2000" y="6426000"/>
            <a:ext cx="1007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Arial"/>
                <a:ea typeface="Arial"/>
                <a:cs typeface="Arial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4000" y="378000"/>
            <a:ext cx="1080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20">
                <a:solidFill>
                  <a:srgbClr val="C8A24A"/>
                </a:solidFill>
                <a:latin typeface="Arial"/>
                <a:ea typeface="Arial"/>
                <a:cs typeface="Arial"/>
              </a:rPr>
              <a:t>08</a:t>
            </a:r>
            <a:r>
              <a:rPr sz="1300" b="0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　　</a:t>
            </a:r>
            <a:r>
              <a:rPr sz="1250" b="1" i="0" spc="6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成果重点 · 实践网站（二）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000" y="630000"/>
            <a:ext cx="10836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E28"/>
                </a:solidFill>
                <a:latin typeface="华文中宋"/>
                <a:ea typeface="华文中宋"/>
                <a:cs typeface="华文中宋"/>
              </a:rPr>
              <a:t>八个板块讲清一条线，评委可以现场打开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4000" y="1303200"/>
            <a:ext cx="936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4000" y="1422000"/>
            <a:ext cx="1065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从“节气是什么”一路讲到“你能带走什么”，电脑和手机都能正常打开。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4000" y="1908000"/>
            <a:ext cx="2520000" cy="9179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6000" y="2059200"/>
            <a:ext cx="3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8A24A"/>
                </a:solidFill>
                <a:latin typeface="Arial"/>
                <a:ea typeface="Arial"/>
                <a:cs typeface="Arial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4000" y="2044800"/>
            <a:ext cx="1872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首屏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6000" y="2347200"/>
            <a:ext cx="2232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给时间刻下的二十四道刻度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0000" y="1908000"/>
            <a:ext cx="2520000" cy="9179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1999" y="2059200"/>
            <a:ext cx="3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8A24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70000" y="2044800"/>
            <a:ext cx="1872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是什么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1999" y="2347200"/>
            <a:ext cx="2232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不是节日，是中国人按太阳排出的时间制度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4000" y="2951999"/>
            <a:ext cx="2520000" cy="9179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6000" y="3103199"/>
            <a:ext cx="3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8A24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4000" y="3088800"/>
            <a:ext cx="1872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从何而来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000" y="3391200"/>
            <a:ext cx="2232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一根立竿 → 黄道 24 个刻度；天文台研学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0000" y="2951999"/>
            <a:ext cx="2520000" cy="9179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91999" y="3103199"/>
            <a:ext cx="3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8A24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0000" y="3088800"/>
            <a:ext cx="1872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气象物候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1999" y="3391200"/>
            <a:ext cx="2232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节气是古人写的“气象预报”与江南农谚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4000" y="3996000"/>
            <a:ext cx="2520000" cy="9179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6000" y="4147200"/>
            <a:ext cx="3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8A24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4000" y="4132800"/>
            <a:ext cx="1872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四时民俗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000" y="4435200"/>
            <a:ext cx="2232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春咬鲜 / 夏尝够 / 秋贴膘 / 冬过年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30000" y="3996000"/>
            <a:ext cx="2520000" cy="9179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91999" y="4147200"/>
            <a:ext cx="3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8A24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70000" y="4132800"/>
            <a:ext cx="1872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与今天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91999" y="4435200"/>
            <a:ext cx="2232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农业气象服务、设施农业、暑托班课堂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4000" y="5040000"/>
            <a:ext cx="2520000" cy="9179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6000" y="5191200"/>
            <a:ext cx="3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8A24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4000" y="5176800"/>
            <a:ext cx="1872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在地实证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6000" y="5479200"/>
            <a:ext cx="2232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25 位居民的认知落差与四条提升方向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30000" y="5040000"/>
            <a:ext cx="2520000" cy="91799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91999" y="5191200"/>
            <a:ext cx="39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8A24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70000" y="5176800"/>
            <a:ext cx="1872000" cy="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带走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91999" y="5479200"/>
            <a:ext cx="2232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走访调研 / 少儿课堂 / 天文研学 / 现成模板</a:t>
            </a:r>
          </a:p>
        </p:txBody>
      </p:sp>
      <p:pic>
        <p:nvPicPr>
          <p:cNvPr id="38" name="Picture 37" descr="desk_hero.png">
            <a:hlinkClick r:id="rId3"/>
          </p:cNvPr>
          <p:cNvPicPr>
            <a:picLocks noChangeAspect="1"/>
          </p:cNvPicPr>
          <p:nvPr/>
        </p:nvPicPr>
        <p:blipFill>
          <a:blip r:embed="rId2"/>
          <a:srcRect t="6226" b="6226"/>
          <a:stretch>
            <a:fillRect/>
          </a:stretch>
        </p:blipFill>
        <p:spPr>
          <a:xfrm>
            <a:off x="6192000" y="1908000"/>
            <a:ext cx="3816000" cy="208800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6192000" y="1908000"/>
            <a:ext cx="3816000" cy="2088000"/>
          </a:xfrm>
          <a:prstGeom prst="rect">
            <a:avLst/>
          </a:prstGeom>
          <a:noFill/>
          <a:ln w="12700">
            <a:solidFill>
              <a:srgbClr val="D8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188000" y="1908000"/>
            <a:ext cx="1314000" cy="2088000"/>
          </a:xfrm>
          <a:prstGeom prst="roundRect">
            <a:avLst>
              <a:gd name="adj" fmla="val 7000"/>
            </a:avLst>
          </a:prstGeom>
          <a:solidFill>
            <a:srgbClr val="2A3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1" name="Picture 40" descr="mob_hero.png">
            <a:hlinkClick r:id="rId3"/>
          </p:cNvPr>
          <p:cNvPicPr>
            <a:picLocks noChangeAspect="1"/>
          </p:cNvPicPr>
          <p:nvPr/>
        </p:nvPicPr>
        <p:blipFill>
          <a:blip r:embed="rId4"/>
          <a:srcRect t="11327" b="11327"/>
          <a:stretch>
            <a:fillRect/>
          </a:stretch>
        </p:blipFill>
        <p:spPr>
          <a:xfrm>
            <a:off x="10260000" y="1972800"/>
            <a:ext cx="1170000" cy="1958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192000" y="4031999"/>
            <a:ext cx="53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桌面端与手机端首屏（点图可达）</a:t>
            </a:r>
          </a:p>
        </p:txBody>
      </p:sp>
      <p:sp>
        <p:nvSpPr>
          <p:cNvPr id="43" name="Rounded Rectangle 42">
            <a:hlinkClick r:id="rId3"/>
          </p:cNvPr>
          <p:cNvSpPr/>
          <p:nvPr/>
        </p:nvSpPr>
        <p:spPr>
          <a:xfrm>
            <a:off x="6192000" y="4212000"/>
            <a:ext cx="5310000" cy="522000"/>
          </a:xfrm>
          <a:prstGeom prst="roundRect">
            <a:avLst>
              <a:gd name="adj" fmla="val 14000"/>
            </a:avLst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直达网站 ↗　xulu-debug.github.io/jieqi-site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2000" y="4842000"/>
            <a:ext cx="1152000" cy="19800"/>
          </a:xfrm>
          <a:prstGeom prst="rect">
            <a:avLst/>
          </a:prstGeom>
          <a:solidFill>
            <a:srgbClr val="8FB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2000" y="4932000"/>
            <a:ext cx="5328000" cy="23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4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另有成果归档页 archive.html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92000" y="5166000"/>
            <a:ext cx="534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资源包、项目报告、答辩材料与三个小游戏都在这一页，一页可取。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2000" y="5526000"/>
            <a:ext cx="532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↗ xulu-debug.github.io/jieqi-site/archive.html</a:t>
            </a:r>
          </a:p>
        </p:txBody>
      </p:sp>
      <p:sp>
        <p:nvSpPr>
          <p:cNvPr id="48" name="Rectangle 47">
            <a:hlinkClick r:id="rId5"/>
          </p:cNvPr>
          <p:cNvSpPr/>
          <p:nvPr/>
        </p:nvSpPr>
        <p:spPr>
          <a:xfrm>
            <a:off x="6192000" y="5490000"/>
            <a:ext cx="5328000" cy="30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92000" y="5796000"/>
            <a:ext cx="534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源码以 MIT 协议开源，代码与资料都留在网上，下一届可以直接接着维护。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4000" y="6426000"/>
            <a:ext cx="79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循节气文脉，探天文农智　|　南京信息工程大学 逐光下乡实践团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2000" y="6426000"/>
            <a:ext cx="1007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Arial"/>
                <a:ea typeface="Arial"/>
                <a:cs typeface="Arial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4000" y="378000"/>
            <a:ext cx="1080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20">
                <a:solidFill>
                  <a:srgbClr val="C8A24A"/>
                </a:solidFill>
                <a:latin typeface="Arial"/>
                <a:ea typeface="Arial"/>
                <a:cs typeface="Arial"/>
              </a:rPr>
              <a:t>09</a:t>
            </a:r>
            <a:r>
              <a:rPr sz="1300" b="0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　　</a:t>
            </a:r>
            <a:r>
              <a:rPr sz="1250" b="1" i="0" spc="60">
                <a:solidFill>
                  <a:srgbClr val="3E7A6B"/>
                </a:solidFill>
                <a:latin typeface="微软雅黑"/>
                <a:ea typeface="微软雅黑"/>
                <a:cs typeface="微软雅黑"/>
              </a:rPr>
              <a:t>不足与改进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000" y="630000"/>
            <a:ext cx="10836000" cy="6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2E28"/>
                </a:solidFill>
                <a:latin typeface="华文中宋"/>
                <a:ea typeface="华文中宋"/>
                <a:cs typeface="华文中宋"/>
              </a:rPr>
              <a:t>三点不足，三条改进方向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684000" y="1303200"/>
            <a:ext cx="936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4000" y="1422000"/>
            <a:ext cx="1065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七天能做的事有限。下面三条既是我们复盘出的短板，也是下一届可以直接接着做的地方。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4000" y="1908000"/>
            <a:ext cx="3366000" cy="2592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4000" y="1908000"/>
            <a:ext cx="3366000" cy="50400"/>
          </a:xfrm>
          <a:prstGeom prst="rect">
            <a:avLst/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5999" y="2023200"/>
            <a:ext cx="7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4A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5999" y="2232000"/>
            <a:ext cx="2916000" cy="30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覆盖范围有限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5999" y="2592000"/>
            <a:ext cx="792000" cy="19800"/>
          </a:xfrm>
          <a:prstGeom prst="rect">
            <a:avLst/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5999" y="2671200"/>
            <a:ext cx="86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3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现　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5999" y="2851200"/>
            <a:ext cx="2916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只覆盖玉带园社区一个暑托班，
未能辐射周边街道。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5999" y="3510000"/>
            <a:ext cx="122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3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改进方向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5999" y="3690000"/>
            <a:ext cx="2916000" cy="75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与学院志愿队、周边社区共建，</a:t>
            </a:r>
            <a:r>
              <a:rPr sz="10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形成可轮换的讲师与课程安排。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3600" y="1908000"/>
            <a:ext cx="3366000" cy="2592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3600" y="1908000"/>
            <a:ext cx="3366000" cy="50400"/>
          </a:xfrm>
          <a:prstGeom prst="rect">
            <a:avLst/>
          </a:prstGeom>
          <a:solidFill>
            <a:srgbClr val="3E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5600" y="2023200"/>
            <a:ext cx="7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E7A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5600" y="2232000"/>
            <a:ext cx="2916000" cy="30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在地性待加强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5600" y="2592000"/>
            <a:ext cx="792000" cy="19800"/>
          </a:xfrm>
          <a:prstGeom prst="rect">
            <a:avLst/>
          </a:prstGeom>
          <a:solidFill>
            <a:srgbClr val="3E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5600" y="2671200"/>
            <a:ext cx="86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3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现　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5600" y="2851200"/>
            <a:ext cx="2916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初期把通用民俗套用到南京，
本土特色被弱化。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5600" y="3510000"/>
            <a:ext cx="122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3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改进方向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5600" y="3690000"/>
            <a:ext cx="2916000" cy="75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建立南京在地民俗库，用本地材料</a:t>
            </a:r>
            <a:r>
              <a:rPr sz="10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替代网络通用素材，做出地区差异对照。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43199" y="1908000"/>
            <a:ext cx="3366000" cy="2592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1430">
            <a:solidFill>
              <a:srgbClr val="EFE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43199" y="1908000"/>
            <a:ext cx="3366000" cy="504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95199" y="2023200"/>
            <a:ext cx="7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8A24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5199" y="2232000"/>
            <a:ext cx="2916000" cy="30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E28"/>
                </a:solidFill>
                <a:latin typeface="微软雅黑"/>
                <a:ea typeface="微软雅黑"/>
                <a:cs typeface="微软雅黑"/>
              </a:rPr>
              <a:t>长效机制待建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95199" y="2592000"/>
            <a:ext cx="792000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95199" y="2671200"/>
            <a:ext cx="86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3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现　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5199" y="2851200"/>
            <a:ext cx="2916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活动结束即散场，
缺少常态化承接渠道。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5199" y="3510000"/>
            <a:ext cx="122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30">
                <a:solidFill>
                  <a:srgbClr val="A63A2B"/>
                </a:solidFill>
                <a:latin typeface="微软雅黑"/>
                <a:ea typeface="微软雅黑"/>
                <a:cs typeface="微软雅黑"/>
              </a:rPr>
              <a:t>改进方向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5199" y="3690000"/>
            <a:ext cx="2916000" cy="75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60" b="1" i="0">
                <a:solidFill>
                  <a:srgbClr val="1E4A3C"/>
                </a:solidFill>
                <a:latin typeface="微软雅黑"/>
                <a:ea typeface="微软雅黑"/>
                <a:cs typeface="微软雅黑"/>
              </a:rPr>
              <a:t>把课纳入社区托管与课后服务，</a:t>
            </a:r>
            <a:r>
              <a:rPr sz="1060" b="0" i="0">
                <a:solidFill>
                  <a:srgbClr val="6B7A73"/>
                </a:solidFill>
                <a:latin typeface="微软雅黑"/>
                <a:ea typeface="微软雅黑"/>
                <a:cs typeface="微软雅黑"/>
              </a:rPr>
              <a:t>并由资源包与网站承接交接。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4000" y="4662000"/>
            <a:ext cx="10800000" cy="1260000"/>
          </a:xfrm>
          <a:prstGeom prst="roundRect">
            <a:avLst>
              <a:gd name="adj" fmla="val 4500"/>
            </a:avLst>
          </a:prstGeom>
          <a:solidFill>
            <a:srgbClr val="1E4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4000" y="4788000"/>
            <a:ext cx="288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5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我们想继续做的三件事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4000" y="5076000"/>
            <a:ext cx="3311999" cy="23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课程常态化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4000" y="5346000"/>
            <a:ext cx="333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8FB3A6"/>
                </a:solidFill>
                <a:latin typeface="微软雅黑"/>
                <a:ea typeface="微软雅黑"/>
                <a:cs typeface="微软雅黑"/>
              </a:rPr>
              <a:t>把节气美育写进社区托管与课后服务的固定课表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64000" y="5076000"/>
            <a:ext cx="3311999" cy="23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民俗资源库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64000" y="5346000"/>
            <a:ext cx="333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8FB3A6"/>
                </a:solidFill>
                <a:latin typeface="微软雅黑"/>
                <a:ea typeface="微软雅黑"/>
                <a:cs typeface="微软雅黑"/>
              </a:rPr>
              <a:t>把口述素材持续收录、更新，形成可查的本地民俗库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73999" y="5076000"/>
            <a:ext cx="3311999" cy="23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网站继续迭代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73999" y="5346000"/>
            <a:ext cx="333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8FB3A6"/>
                </a:solidFill>
                <a:latin typeface="微软雅黑"/>
                <a:ea typeface="微软雅黑"/>
                <a:cs typeface="微软雅黑"/>
              </a:rPr>
              <a:t>增加居民留言互动与线上学习内容，接住下一届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4000" y="6426000"/>
            <a:ext cx="79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微软雅黑"/>
                <a:ea typeface="微软雅黑"/>
                <a:cs typeface="微软雅黑"/>
              </a:rPr>
              <a:t>循节气文脉，探天文农智　|　南京信息工程大学 逐光下乡实践团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2000" y="6426000"/>
            <a:ext cx="1007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A59F"/>
                </a:solidFill>
                <a:latin typeface="Arial"/>
                <a:ea typeface="Arial"/>
                <a:cs typeface="Arial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A3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bg.png"/>
          <p:cNvPicPr>
            <a:picLocks noChangeAspect="1"/>
          </p:cNvPicPr>
          <p:nvPr/>
        </p:nvPicPr>
        <p:blipFill>
          <a:blip r:embed="rId2"/>
          <a:srcRect t="7817" b="7817"/>
          <a:stretch>
            <a:fillRect/>
          </a:stretch>
        </p:blipFill>
        <p:spPr>
          <a:xfrm>
            <a:off x="0" y="0"/>
            <a:ext cx="121932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42A24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2000" y="1224000"/>
            <a:ext cx="72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spc="80">
                <a:solidFill>
                  <a:srgbClr val="8FB3A6"/>
                </a:solidFill>
                <a:latin typeface="微软雅黑"/>
                <a:ea typeface="微软雅黑"/>
                <a:cs typeface="微软雅黑"/>
              </a:rPr>
              <a:t>南京信息工程大学 · 逐光下乡实践团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4000" y="1584000"/>
            <a:ext cx="864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i="0" spc="150">
                <a:solidFill>
                  <a:srgbClr val="FFFFFF"/>
                </a:solidFill>
                <a:latin typeface="华文中宋"/>
                <a:ea typeface="华文中宋"/>
                <a:cs typeface="华文中宋"/>
              </a:rPr>
              <a:t>感谢各位老师</a:t>
            </a:r>
          </a:p>
        </p:txBody>
      </p:sp>
      <p:sp>
        <p:nvSpPr>
          <p:cNvPr id="6" name="Rectangle 5"/>
          <p:cNvSpPr/>
          <p:nvPr/>
        </p:nvSpPr>
        <p:spPr>
          <a:xfrm>
            <a:off x="972000" y="2502000"/>
            <a:ext cx="2015999" cy="19800"/>
          </a:xfrm>
          <a:prstGeom prst="rect">
            <a:avLst/>
          </a:prstGeom>
          <a:solidFill>
            <a:srgbClr val="C8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2000" y="2700000"/>
            <a:ext cx="792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C8A24A"/>
                </a:solidFill>
                <a:latin typeface="微软雅黑"/>
                <a:ea typeface="微软雅黑"/>
                <a:cs typeface="微软雅黑"/>
              </a:rPr>
              <a:t>把一棵立秋，种成一整年的二十四节气。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000" y="3384000"/>
            <a:ext cx="774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9E4DD"/>
                </a:solidFill>
                <a:latin typeface="微软雅黑"/>
                <a:ea typeface="微软雅黑"/>
                <a:cs typeface="微软雅黑"/>
              </a:rPr>
              <a:t>七天的实践已经收尾，但网站、资源包和归档页都会继续留着，愿意接着做的下一届同学随时可以取用。请各位老师批评指正。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000" y="4788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B3A6"/>
                </a:solidFill>
                <a:latin typeface="微软雅黑"/>
                <a:ea typeface="微软雅黑"/>
                <a:cs typeface="微软雅黑"/>
              </a:rPr>
              <a:t>汇报人 陆旭　｜　队长 刘杭　｜　队员 钟孝宇 · 张尔凡 · 孟夏杰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0" y="5112000"/>
            <a:ext cx="720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FB3A6"/>
                </a:solidFill>
                <a:latin typeface="微软雅黑"/>
                <a:ea typeface="微软雅黑"/>
                <a:cs typeface="微软雅黑"/>
              </a:rPr>
              <a:t>指导教师 江晓东　｜　生态与应用气象学院　｜　2026 年 9 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56000" y="1548000"/>
            <a:ext cx="2304000" cy="23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2" name="Picture 11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6000" y="1728000"/>
            <a:ext cx="1944000" cy="1944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56000" y="3978000"/>
            <a:ext cx="230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B3A6"/>
                </a:solidFill>
                <a:latin typeface="微软雅黑"/>
                <a:ea typeface="微软雅黑"/>
                <a:cs typeface="微软雅黑"/>
              </a:rPr>
              <a:t>扫码打开成果网站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96000" y="4338000"/>
            <a:ext cx="302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E4DD"/>
                </a:solidFill>
                <a:latin typeface="Arial"/>
                <a:ea typeface="Arial"/>
                <a:cs typeface="Arial"/>
              </a:rPr>
              <a:t>xulu-debug.github.io/jieqi-site</a:t>
            </a:r>
          </a:p>
        </p:txBody>
      </p:sp>
      <p:sp>
        <p:nvSpPr>
          <p:cNvPr id="15" name="Rectangle 14">
            <a:hlinkClick r:id="rId4"/>
          </p:cNvPr>
          <p:cNvSpPr/>
          <p:nvPr/>
        </p:nvSpPr>
        <p:spPr>
          <a:xfrm>
            <a:off x="8496000" y="4284000"/>
            <a:ext cx="3024000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4000" y="6426000"/>
            <a:ext cx="792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FB3A6"/>
                </a:solidFill>
                <a:latin typeface="微软雅黑"/>
                <a:ea typeface="微软雅黑"/>
                <a:cs typeface="微软雅黑"/>
              </a:rPr>
              <a:t>循节气文脉，探天文农智　|　南京信息工程大学 逐光下乡实践团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2000" y="6426000"/>
            <a:ext cx="1007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FB3A6"/>
                </a:solidFill>
                <a:latin typeface="Arial"/>
                <a:ea typeface="Arial"/>
                <a:cs typeface="Arial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